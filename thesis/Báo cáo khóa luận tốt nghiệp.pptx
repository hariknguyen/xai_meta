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28"/>
  </p:handoutMasterIdLst>
  <p:sldIdLst>
    <p:sldId id="256" r:id="rId3"/>
    <p:sldId id="257" r:id="rId4"/>
    <p:sldId id="379" r:id="rId5"/>
    <p:sldId id="316" r:id="rId6"/>
    <p:sldId id="315" r:id="rId8"/>
    <p:sldId id="276" r:id="rId9"/>
    <p:sldId id="342" r:id="rId10"/>
    <p:sldId id="345" r:id="rId11"/>
    <p:sldId id="349" r:id="rId12"/>
    <p:sldId id="270" r:id="rId13"/>
    <p:sldId id="274" r:id="rId14"/>
    <p:sldId id="275" r:id="rId15"/>
    <p:sldId id="280" r:id="rId16"/>
    <p:sldId id="320" r:id="rId17"/>
    <p:sldId id="369" r:id="rId18"/>
    <p:sldId id="323" r:id="rId19"/>
    <p:sldId id="350" r:id="rId20"/>
    <p:sldId id="284" r:id="rId21"/>
    <p:sldId id="368" r:id="rId22"/>
    <p:sldId id="289" r:id="rId23"/>
    <p:sldId id="285" r:id="rId24"/>
    <p:sldId id="286" r:id="rId25"/>
    <p:sldId id="287" r:id="rId26"/>
    <p:sldId id="290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0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28/07/2026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2.png"/><Relationship Id="rId1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41.png"/><Relationship Id="rId13" Type="http://schemas.openxmlformats.org/officeDocument/2006/relationships/image" Target="../media/image40.png"/><Relationship Id="rId12" Type="http://schemas.openxmlformats.org/officeDocument/2006/relationships/image" Target="../media/image39.pn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2.png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65.png"/><Relationship Id="rId3" Type="http://schemas.openxmlformats.org/officeDocument/2006/relationships/image" Target="../media/image4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0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40.png"/><Relationship Id="rId2" Type="http://schemas.openxmlformats.org/officeDocument/2006/relationships/image" Target="../media/image51.png"/><Relationship Id="rId1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0.png"/><Relationship Id="rId1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7.pn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2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png"/><Relationship Id="rId8" Type="http://schemas.openxmlformats.org/officeDocument/2006/relationships/image" Target="../media/image100.png"/><Relationship Id="rId7" Type="http://schemas.openxmlformats.org/officeDocument/2006/relationships/image" Target="../media/image99.png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06.png"/><Relationship Id="rId13" Type="http://schemas.openxmlformats.org/officeDocument/2006/relationships/image" Target="../media/image105.png"/><Relationship Id="rId12" Type="http://schemas.openxmlformats.org/officeDocument/2006/relationships/image" Target="../media/image104.png"/><Relationship Id="rId11" Type="http://schemas.openxmlformats.org/officeDocument/2006/relationships/image" Target="../media/image103.png"/><Relationship Id="rId10" Type="http://schemas.openxmlformats.org/officeDocument/2006/relationships/image" Target="../media/image102.png"/><Relationship Id="rId1" Type="http://schemas.openxmlformats.org/officeDocument/2006/relationships/image" Target="../media/image9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3.png"/><Relationship Id="rId1" Type="http://schemas.openxmlformats.org/officeDocument/2006/relationships/image" Target="../media/image1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5.png"/><Relationship Id="rId1" Type="http://schemas.openxmlformats.org/officeDocument/2006/relationships/image" Target="../media/image1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600"/>
              <a:t>Khóa luận tốt nghiệp</a:t>
            </a:r>
            <a:br>
              <a:rPr lang="en-US" altLang="zh-CN" sz="4800"/>
            </a:br>
            <a:r>
              <a:rPr lang="en-US" altLang="zh-CN" sz="2800"/>
              <a:t>Đề tài: Giải thích Negative Transfer trong Meta-Learning</a:t>
            </a:r>
            <a:endParaRPr lang="en-US" altLang="zh-CN" sz="280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Người thực hiện: Nguyễn Lê Tuấn Khải</a:t>
            </a:r>
            <a:endParaRPr lang="en-US" altLang="zh-CN"/>
          </a:p>
          <a:p>
            <a:r>
              <a:rPr lang="en-US" altLang="zh-CN"/>
              <a:t>GVHD: GS.TS. Lê Hoài Bắc</a:t>
            </a:r>
            <a:endParaRPr lang="en-US" altLang="zh-C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r>
              <a:rPr lang="en-US" altLang="zh-CN"/>
              <a:t> - TP.HCM</a:t>
            </a:r>
            <a:endParaRPr lang="en-US" alt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925"/>
            <a:ext cx="1961515" cy="97663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469515" y="170180"/>
            <a:ext cx="72536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>
                <a:latin typeface="+mj-lt"/>
                <a:cs typeface="+mj-lt"/>
              </a:rPr>
              <a:t>TRƯỜNG ĐẠI HỌC KHOA HỌC TỰ NHIÊN, ĐHQG - HCM</a:t>
            </a:r>
            <a:endParaRPr lang="en-US" sz="2000">
              <a:latin typeface="+mj-lt"/>
              <a:cs typeface="+mj-lt"/>
            </a:endParaRPr>
          </a:p>
          <a:p>
            <a:pPr algn="ctr"/>
            <a:r>
              <a:rPr lang="en-US" sz="2000">
                <a:latin typeface="+mj-lt"/>
                <a:cs typeface="+mj-lt"/>
              </a:rPr>
              <a:t>KHOA CÔNG NGHỆ THÔNG TIN</a:t>
            </a:r>
            <a:endParaRPr lang="en-US" sz="20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Mục lục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400"/>
              <a:t>1. Giới thiệu đề tài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2. Phát biểu bài toán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3. Các công trình liên quan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4. Phương pháp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5. Thực nghiệm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6. Kết luận</a:t>
            </a:r>
            <a:endParaRPr 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1. </a:t>
            </a:r>
            <a:r>
              <a:rPr lang="en-US">
                <a:sym typeface="+mn-ea"/>
              </a:rPr>
              <a:t>Giới thiệu đề tài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647700" y="2037715"/>
            <a:ext cx="107061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 u="sng">
                <a:solidFill>
                  <a:schemeClr val="tx1"/>
                </a:solidFill>
              </a:rPr>
              <a:t>MAML </a:t>
            </a:r>
            <a:r>
              <a:rPr lang="en-US" sz="1600" b="1" u="sng"/>
              <a:t>(Model Agnostic Meta-Learning)</a:t>
            </a:r>
            <a:r>
              <a:rPr lang="en-US" sz="1600"/>
              <a:t> hay các phương pháp dựa trên tối ưu (optimization-based) là phương pháp tiêu biểu nhờ tính khả vi và linh hoạt, áp dụng cho mọi loại kiến trúc.</a:t>
            </a:r>
            <a:endParaRPr lang="en-US" sz="1600"/>
          </a:p>
        </p:txBody>
      </p:sp>
      <p:grpSp>
        <p:nvGrpSpPr>
          <p:cNvPr id="30" name="Group 29"/>
          <p:cNvGrpSpPr/>
          <p:nvPr/>
        </p:nvGrpSpPr>
        <p:grpSpPr>
          <a:xfrm>
            <a:off x="7655560" y="2976245"/>
            <a:ext cx="2474595" cy="1642110"/>
            <a:chOff x="14831" y="3807"/>
            <a:chExt cx="3897" cy="2586"/>
          </a:xfrm>
        </p:grpSpPr>
        <p:sp>
          <p:nvSpPr>
            <p:cNvPr id="18" name="Rectangles 17"/>
            <p:cNvSpPr/>
            <p:nvPr/>
          </p:nvSpPr>
          <p:spPr>
            <a:xfrm>
              <a:off x="15803" y="3807"/>
              <a:ext cx="1777" cy="6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" name="Rectangles 18"/>
            <p:cNvSpPr/>
            <p:nvPr/>
          </p:nvSpPr>
          <p:spPr>
            <a:xfrm>
              <a:off x="16952" y="5730"/>
              <a:ext cx="1777" cy="6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" name="Rectangles 19"/>
            <p:cNvSpPr/>
            <p:nvPr/>
          </p:nvSpPr>
          <p:spPr>
            <a:xfrm>
              <a:off x="14831" y="5783"/>
              <a:ext cx="1777" cy="61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 Box 20"/>
                <p:cNvSpPr txBox="1"/>
                <p:nvPr/>
              </p:nvSpPr>
              <p:spPr>
                <a:xfrm>
                  <a:off x="16104" y="3822"/>
                  <a:ext cx="1175" cy="58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21" name="Text 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04" y="3822"/>
                  <a:ext cx="1175" cy="581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 Box 21"/>
                <p:cNvSpPr txBox="1"/>
                <p:nvPr/>
              </p:nvSpPr>
              <p:spPr>
                <a:xfrm>
                  <a:off x="15329" y="5795"/>
                  <a:ext cx="782" cy="567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22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29" y="5795"/>
                  <a:ext cx="782" cy="567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 Box 22"/>
                <p:cNvSpPr txBox="1"/>
                <p:nvPr/>
              </p:nvSpPr>
              <p:spPr>
                <a:xfrm>
                  <a:off x="17439" y="5729"/>
                  <a:ext cx="753" cy="567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23" name="Text 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39" y="5729"/>
                  <a:ext cx="753" cy="56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/>
            <p:cNvCxnSpPr>
              <a:stCxn id="21" idx="2"/>
              <a:endCxn id="22" idx="0"/>
            </p:cNvCxnSpPr>
            <p:nvPr/>
          </p:nvCxnSpPr>
          <p:spPr>
            <a:xfrm flipH="1">
              <a:off x="15720" y="4403"/>
              <a:ext cx="971" cy="1392"/>
            </a:xfrm>
            <a:prstGeom prst="straightConnector1">
              <a:avLst/>
            </a:prstGeom>
            <a:ln w="22225" cmpd="sng">
              <a:solidFill>
                <a:schemeClr val="tx1"/>
              </a:solidFill>
              <a:prstDash val="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21" idx="2"/>
              <a:endCxn id="23" idx="0"/>
            </p:cNvCxnSpPr>
            <p:nvPr/>
          </p:nvCxnSpPr>
          <p:spPr>
            <a:xfrm>
              <a:off x="16691" y="4403"/>
              <a:ext cx="1124" cy="1326"/>
            </a:xfrm>
            <a:prstGeom prst="straightConnector1">
              <a:avLst/>
            </a:prstGeom>
            <a:ln w="22225" cmpd="sng">
              <a:solidFill>
                <a:schemeClr val="tx1"/>
              </a:solidFill>
              <a:prstDash val="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829945" y="5036185"/>
            <a:ext cx="10128885" cy="522605"/>
            <a:chOff x="1307" y="7931"/>
            <a:chExt cx="15951" cy="82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 Box 28"/>
                <p:cNvSpPr txBox="1"/>
                <p:nvPr/>
              </p:nvSpPr>
              <p:spPr>
                <a:xfrm>
                  <a:off x="1307" y="7931"/>
                  <a:ext cx="6974" cy="8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1400"/>
                    <a:t> càng mạnh (mô hình được huấn luyện trên nhiều tác vụ quá khứ có tính đa dạng cao).</a:t>
                  </a:r>
                  <a:endParaRPr lang="en-US" sz="1400"/>
                </a:p>
              </p:txBody>
            </p:sp>
          </mc:Choice>
          <mc:Fallback>
            <p:sp>
              <p:nvSpPr>
                <p:cNvPr id="29" name="Text 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7" y="7931"/>
                  <a:ext cx="6974" cy="82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/>
            <p:cNvCxnSpPr/>
            <p:nvPr/>
          </p:nvCxnSpPr>
          <p:spPr>
            <a:xfrm>
              <a:off x="9336" y="8391"/>
              <a:ext cx="923" cy="0"/>
            </a:xfrm>
            <a:prstGeom prst="straightConnector1">
              <a:avLst/>
            </a:prstGeom>
            <a:ln w="123825" cmpd="dbl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 Box 32"/>
            <p:cNvSpPr txBox="1"/>
            <p:nvPr/>
          </p:nvSpPr>
          <p:spPr>
            <a:xfrm>
              <a:off x="11314" y="7932"/>
              <a:ext cx="5944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just"/>
              <a:r>
                <a:rPr lang="en-US" sz="1400">
                  <a:sym typeface="+mn-ea"/>
                </a:rPr>
                <a:t>Quá trình thích ứng nhanh cho tác vụ mới (downstream tasks) sẽ càng tốt.</a:t>
              </a:r>
              <a:endParaRPr lang="en-US" sz="1400">
                <a:sym typeface="+mn-ea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852930" y="2715895"/>
            <a:ext cx="2061210" cy="2214880"/>
            <a:chOff x="11313" y="3508"/>
            <a:chExt cx="3246" cy="3488"/>
          </a:xfrm>
        </p:grpSpPr>
        <p:grpSp>
          <p:nvGrpSpPr>
            <p:cNvPr id="26" name="Group 25"/>
            <p:cNvGrpSpPr/>
            <p:nvPr/>
          </p:nvGrpSpPr>
          <p:grpSpPr>
            <a:xfrm>
              <a:off x="11313" y="3508"/>
              <a:ext cx="3246" cy="3488"/>
              <a:chOff x="11313" y="3508"/>
              <a:chExt cx="3246" cy="3488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11313" y="3508"/>
                <a:ext cx="3247" cy="3488"/>
                <a:chOff x="3366" y="7040"/>
                <a:chExt cx="3247" cy="3488"/>
              </a:xfrm>
            </p:grpSpPr>
            <p:cxnSp>
              <p:nvCxnSpPr>
                <p:cNvPr id="7" name="Curved Connector 6"/>
                <p:cNvCxnSpPr/>
                <p:nvPr/>
              </p:nvCxnSpPr>
              <p:spPr>
                <a:xfrm>
                  <a:off x="3366" y="7344"/>
                  <a:ext cx="1937" cy="1918"/>
                </a:xfrm>
                <a:prstGeom prst="curvedConnector2">
                  <a:avLst/>
                </a:prstGeom>
                <a:ln w="25400" cmpd="sng">
                  <a:solidFill>
                    <a:schemeClr val="tx1"/>
                  </a:solidFill>
                  <a:prstDash val="solid"/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" name="Text Box 8"/>
                    <p:cNvSpPr txBox="1"/>
                    <p:nvPr/>
                  </p:nvSpPr>
                  <p:spPr>
                    <a:xfrm>
                      <a:off x="5040" y="8681"/>
                      <a:ext cx="1175" cy="58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t">
                      <a:spAutoFit/>
                    </a:bodyPr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/>
                    </a:p>
                  </p:txBody>
                </p:sp>
              </mc:Choice>
              <mc:Fallback>
                <p:sp>
                  <p:nvSpPr>
                    <p:cNvPr id="9" name="Text Box 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40" y="8681"/>
                      <a:ext cx="1175" cy="581"/>
                    </a:xfrm>
                    <a:prstGeom prst="rect">
                      <a:avLst/>
                    </a:prstGeom>
                    <a:blipFill rotWithShape="1">
                      <a:blip r:embed="rId1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" name="Text Box 9"/>
                    <p:cNvSpPr txBox="1"/>
                    <p:nvPr/>
                  </p:nvSpPr>
                  <p:spPr>
                    <a:xfrm>
                      <a:off x="3690" y="7040"/>
                      <a:ext cx="809" cy="58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t">
                      <a:spAutoFit/>
                    </a:bodyPr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en-US"/>
                    </a:p>
                  </p:txBody>
                </p:sp>
              </mc:Choice>
              <mc:Fallback>
                <p:sp>
                  <p:nvSpPr>
                    <p:cNvPr id="10" name="Text Box 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90" y="7040"/>
                      <a:ext cx="809" cy="580"/>
                    </a:xfrm>
                    <a:prstGeom prst="rect">
                      <a:avLst/>
                    </a:prstGeom>
                    <a:blipFill rotWithShape="1">
                      <a:blip r:embed="rId5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" name="Curved Connector 10"/>
                <p:cNvCxnSpPr>
                  <a:endCxn id="13" idx="0"/>
                </p:cNvCxnSpPr>
                <p:nvPr/>
              </p:nvCxnSpPr>
              <p:spPr>
                <a:xfrm rot="10800000" flipV="1">
                  <a:off x="4768" y="9172"/>
                  <a:ext cx="511" cy="354"/>
                </a:xfrm>
                <a:prstGeom prst="curvedConnector2">
                  <a:avLst/>
                </a:prstGeom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Curved Connector 11"/>
                <p:cNvCxnSpPr>
                  <a:endCxn id="14" idx="0"/>
                </p:cNvCxnSpPr>
                <p:nvPr/>
              </p:nvCxnSpPr>
              <p:spPr>
                <a:xfrm>
                  <a:off x="5348" y="9195"/>
                  <a:ext cx="871" cy="730"/>
                </a:xfrm>
                <a:prstGeom prst="curvedConnector2">
                  <a:avLst/>
                </a:prstGeom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" name="Text Box 12"/>
                    <p:cNvSpPr txBox="1"/>
                    <p:nvPr/>
                  </p:nvSpPr>
                  <p:spPr>
                    <a:xfrm>
                      <a:off x="4374" y="9526"/>
                      <a:ext cx="789" cy="60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t">
                      <a:spAutoFit/>
                    </a:bodyPr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∅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∗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/>
                    </a:p>
                  </p:txBody>
                </p:sp>
              </mc:Choice>
              <mc:Fallback>
                <p:sp>
                  <p:nvSpPr>
                    <p:cNvPr id="13" name="Text Box 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74" y="9526"/>
                      <a:ext cx="789" cy="603"/>
                    </a:xfrm>
                    <a:prstGeom prst="rect">
                      <a:avLst/>
                    </a:prstGeom>
                    <a:blipFill rotWithShape="1">
                      <a:blip r:embed="rId6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Text Box 13"/>
                    <p:cNvSpPr txBox="1"/>
                    <p:nvPr/>
                  </p:nvSpPr>
                  <p:spPr>
                    <a:xfrm>
                      <a:off x="5824" y="9925"/>
                      <a:ext cx="789" cy="60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t">
                      <a:spAutoFit/>
                    </a:bodyPr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∅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∗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/>
                    </a:p>
                  </p:txBody>
                </p:sp>
              </mc:Choice>
              <mc:Fallback>
                <p:sp>
                  <p:nvSpPr>
                    <p:cNvPr id="14" name="Text Box 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24" y="9925"/>
                      <a:ext cx="789" cy="603"/>
                    </a:xfrm>
                    <a:prstGeom prst="rect">
                      <a:avLst/>
                    </a:prstGeom>
                    <a:blipFill rotWithShape="1">
                      <a:blip r:embed="rId7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" name="Straight Arrow Connector 2"/>
              <p:cNvCxnSpPr/>
              <p:nvPr/>
            </p:nvCxnSpPr>
            <p:spPr>
              <a:xfrm>
                <a:off x="12386" y="4162"/>
                <a:ext cx="863" cy="498"/>
              </a:xfrm>
              <a:prstGeom prst="straightConnector1">
                <a:avLst/>
              </a:prstGeom>
              <a:ln w="12700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Arrow Connector 4"/>
              <p:cNvCxnSpPr/>
              <p:nvPr/>
            </p:nvCxnSpPr>
            <p:spPr>
              <a:xfrm>
                <a:off x="12402" y="4162"/>
                <a:ext cx="4" cy="755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Text Box 5"/>
                  <p:cNvSpPr txBox="1"/>
                  <p:nvPr/>
                </p:nvSpPr>
                <p:spPr>
                  <a:xfrm>
                    <a:off x="12630" y="4003"/>
                    <a:ext cx="738" cy="483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>
                      <a:latin typeface="DejaVu Math TeX Gyre" panose="02000503000000000000" charset="0"/>
                      <a:cs typeface="DejaVu Math TeX Gyre" panose="02000503000000000000" charset="0"/>
                    </a:endParaRPr>
                  </a:p>
                </p:txBody>
              </p:sp>
            </mc:Choice>
            <mc:Fallback>
              <p:sp>
                <p:nvSpPr>
                  <p:cNvPr id="6" name="Text 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30" y="4003"/>
                    <a:ext cx="738" cy="483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 Box 14"/>
                  <p:cNvSpPr txBox="1"/>
                  <p:nvPr/>
                </p:nvSpPr>
                <p:spPr>
                  <a:xfrm>
                    <a:off x="11801" y="4266"/>
                    <a:ext cx="733" cy="483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>
                      <a:latin typeface="DejaVu Math TeX Gyre" panose="02000503000000000000" charset="0"/>
                      <a:cs typeface="DejaVu Math TeX Gyre" panose="02000503000000000000" charset="0"/>
                    </a:endParaRPr>
                  </a:p>
                </p:txBody>
              </p:sp>
            </mc:Choice>
            <mc:Fallback>
              <p:sp>
                <p:nvSpPr>
                  <p:cNvPr id="15" name="Text 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01" y="4266"/>
                    <a:ext cx="733" cy="483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 Box 33"/>
                <p:cNvSpPr txBox="1"/>
                <p:nvPr/>
              </p:nvSpPr>
              <p:spPr>
                <a:xfrm>
                  <a:off x="12385" y="5413"/>
                  <a:ext cx="708" cy="483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i="1"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34" name="Text 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85" y="5413"/>
                  <a:ext cx="708" cy="483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 Box 34"/>
                <p:cNvSpPr txBox="1"/>
                <p:nvPr/>
              </p:nvSpPr>
              <p:spPr>
                <a:xfrm>
                  <a:off x="13700" y="5511"/>
                  <a:ext cx="680" cy="483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i="1"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35" name="Text 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00" y="5511"/>
                  <a:ext cx="680" cy="483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31" name="Text Box 30"/>
          <p:cNvSpPr txBox="1"/>
          <p:nvPr/>
        </p:nvSpPr>
        <p:spPr>
          <a:xfrm>
            <a:off x="647700" y="1587500"/>
            <a:ext cx="107054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/>
              <a:t>Meta-Learning </a:t>
            </a:r>
            <a:r>
              <a:rPr lang="en-US" sz="1600" b="1">
                <a:sym typeface="+mn-ea"/>
              </a:rPr>
              <a:t>= </a:t>
            </a:r>
            <a:r>
              <a:rPr lang="en-US" sz="1600">
                <a:sym typeface="+mn-ea"/>
              </a:rPr>
              <a:t>Learning-to-learn </a:t>
            </a:r>
            <a:r>
              <a:rPr lang="en-US" sz="1200">
                <a:sym typeface="+mn-ea"/>
              </a:rPr>
              <a:t>(học cách học trên nhiều tác vụ)</a:t>
            </a:r>
            <a:r>
              <a:rPr lang="en-US" sz="1600" b="1">
                <a:sym typeface="+mn-ea"/>
              </a:rPr>
              <a:t> + </a:t>
            </a:r>
            <a:r>
              <a:rPr lang="en-US" sz="1600">
                <a:sym typeface="+mn-ea"/>
              </a:rPr>
              <a:t>Fast-adaptation </a:t>
            </a:r>
            <a:r>
              <a:rPr lang="en-US" sz="1200">
                <a:sym typeface="+mn-ea"/>
              </a:rPr>
              <a:t>(thích ứng nhanh trên tác vụ đích)</a:t>
            </a:r>
            <a:endParaRPr lang="en-US" sz="1200"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47700" y="1230630"/>
            <a:ext cx="1070546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 u="sng">
                <a:sym typeface="+mn-ea"/>
              </a:rPr>
              <a:t>Meta-Learning</a:t>
            </a:r>
            <a:r>
              <a:rPr lang="en-US" sz="1600">
                <a:sym typeface="+mn-ea"/>
              </a:rPr>
              <a:t> là phương pháp giải quyết bài toán học trên lượng dữ liệu nhỏ (Few-shot Learning/N-way K-shot).</a:t>
            </a:r>
            <a:endParaRPr lang="en-US" sz="16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1. </a:t>
            </a:r>
            <a:r>
              <a:rPr lang="en-US">
                <a:sym typeface="+mn-ea"/>
              </a:rPr>
              <a:t>Giới thiệu đề tài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7"/>
              <p:cNvSpPr txBox="1"/>
              <p:nvPr/>
            </p:nvSpPr>
            <p:spPr>
              <a:xfrm>
                <a:off x="647700" y="1223645"/>
                <a:ext cx="7395845" cy="830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vi-VN" altLang="en-US" sz="1600">
                    <a:sym typeface="+mn-ea"/>
                  </a:rPr>
                  <a:t>Tuy nhiên thực tế</a:t>
                </a:r>
                <a:r>
                  <a:rPr lang="en-US" altLang="vi-VN" sz="1600">
                    <a:sym typeface="+mn-ea"/>
                  </a:rPr>
                  <a:t> thì</a:t>
                </a:r>
                <a:r>
                  <a:rPr lang="vi-VN" altLang="en-US" sz="1600">
                    <a:sym typeface="+mn-ea"/>
                  </a:rPr>
                  <a:t> tri thức từ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vi-V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vi-V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e>
                      <m:sub>
                        <m:r>
                          <a:rPr lang="vi-VN" altLang="en-US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altLang="en-US" sz="1600">
                    <a:sym typeface="+mn-ea"/>
                  </a:rPr>
                  <a:t> sẽ gây ra nhiễu cho downstream task</a:t>
                </a:r>
                <a:r>
                  <a:rPr lang="en-US" altLang="vi-VN" sz="1600">
                    <a:sym typeface="+mn-ea"/>
                  </a:rPr>
                  <a:t> (Negative Transfer - Chuyển giao tiêu cực)</a:t>
                </a:r>
                <a:r>
                  <a:rPr lang="vi-VN" altLang="en-US" sz="1600">
                    <a:sym typeface="+mn-ea"/>
                  </a:rPr>
                  <a:t>. [1]</a:t>
                </a:r>
                <a:endParaRPr lang="vi-VN" altLang="en-US" sz="1600"/>
              </a:p>
              <a:p>
                <a:endParaRPr lang="vi-VN" altLang="en-US" sz="1600"/>
              </a:p>
            </p:txBody>
          </p:sp>
        </mc:Choice>
        <mc:Fallback>
          <p:sp>
            <p:nvSpPr>
              <p:cNvPr id="8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1223645"/>
                <a:ext cx="7395845" cy="83058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/>
          <p:cNvGrpSpPr/>
          <p:nvPr/>
        </p:nvGrpSpPr>
        <p:grpSpPr>
          <a:xfrm>
            <a:off x="859155" y="2328545"/>
            <a:ext cx="5100955" cy="2673985"/>
            <a:chOff x="1353" y="4507"/>
            <a:chExt cx="8033" cy="421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3" y="4507"/>
              <a:ext cx="8033" cy="3491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1501" y="8187"/>
              <a:ext cx="765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vi-VN" altLang="en-US" sz="800"/>
                <a:t>Hình </a:t>
              </a:r>
              <a:r>
                <a:rPr lang="en-US" altLang="vi-VN" sz="800"/>
                <a:t>1</a:t>
              </a:r>
              <a:r>
                <a:rPr lang="vi-VN" altLang="en-US" sz="800"/>
                <a:t>: Minh họa </a:t>
              </a:r>
              <a:r>
                <a:rPr lang="vi-VN" altLang="en-US" sz="800" i="1"/>
                <a:t>negative transfer</a:t>
              </a:r>
              <a:r>
                <a:rPr lang="vi-VN" altLang="en-US" sz="800"/>
                <a:t> khi S</a:t>
              </a:r>
              <a:r>
                <a:rPr lang="en-US" altLang="vi-VN" sz="800"/>
                <a:t> </a:t>
              </a:r>
              <a:r>
                <a:rPr lang="vi-VN" altLang="en-US" sz="800"/>
                <a:t>khác Q. Do ít mẫu, tri thức tiền nghiệm khiến mô hình học nhầm các tương quan giả</a:t>
              </a:r>
              <a:r>
                <a:rPr lang="en-US" altLang="vi-VN" sz="800"/>
                <a:t> (grass/sand) </a:t>
              </a:r>
              <a:r>
                <a:rPr lang="vi-VN" altLang="en-US" sz="800"/>
                <a:t>thay vì quan hệ nhân quả, gây sai lệch trên Q.</a:t>
              </a:r>
              <a:r>
                <a:rPr lang="en-US" altLang="vi-VN" sz="800"/>
                <a:t> [1]</a:t>
              </a:r>
              <a:r>
                <a:rPr lang="vi-VN" altLang="en-US" sz="800"/>
                <a:t> </a:t>
              </a:r>
              <a:endParaRPr lang="vi-VN" altLang="en-US" sz="800"/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647700" y="6507480"/>
            <a:ext cx="68256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800"/>
              <a:t>[1] </a:t>
            </a:r>
            <a:r>
              <a:rPr lang="en-US" altLang="en-US" sz="800"/>
              <a:t>https://arxiv.org/pdf/2009.13000 (Yue et al - NeurIPS 2020)</a:t>
            </a:r>
            <a:endParaRPr lang="en-US" altLang="en-US" sz="800"/>
          </a:p>
        </p:txBody>
      </p:sp>
      <p:grpSp>
        <p:nvGrpSpPr>
          <p:cNvPr id="51" name="Group 50"/>
          <p:cNvGrpSpPr/>
          <p:nvPr/>
        </p:nvGrpSpPr>
        <p:grpSpPr>
          <a:xfrm>
            <a:off x="6495415" y="2357755"/>
            <a:ext cx="4975860" cy="2559685"/>
            <a:chOff x="10229" y="4553"/>
            <a:chExt cx="7836" cy="4031"/>
          </a:xfrm>
        </p:grpSpPr>
        <p:grpSp>
          <p:nvGrpSpPr>
            <p:cNvPr id="43" name="Group 42"/>
            <p:cNvGrpSpPr/>
            <p:nvPr/>
          </p:nvGrpSpPr>
          <p:grpSpPr>
            <a:xfrm>
              <a:off x="10912" y="4553"/>
              <a:ext cx="7153" cy="3230"/>
              <a:chOff x="11700" y="4061"/>
              <a:chExt cx="7153" cy="323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11700" y="4139"/>
                <a:ext cx="3294" cy="2592"/>
                <a:chOff x="12102" y="4715"/>
                <a:chExt cx="3910" cy="3076"/>
              </a:xfrm>
            </p:grpSpPr>
            <p:grpSp>
              <p:nvGrpSpPr>
                <p:cNvPr id="16" name="Group 15"/>
                <p:cNvGrpSpPr/>
                <p:nvPr/>
              </p:nvGrpSpPr>
              <p:grpSpPr>
                <a:xfrm>
                  <a:off x="12102" y="4715"/>
                  <a:ext cx="3910" cy="3076"/>
                  <a:chOff x="11622" y="2538"/>
                  <a:chExt cx="5847" cy="4600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" name="Oval 2"/>
                      <p:cNvSpPr/>
                      <p:nvPr/>
                    </p:nvSpPr>
                    <p:spPr>
                      <a:xfrm>
                        <a:off x="11622" y="5979"/>
                        <a:ext cx="1159" cy="1159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X</m:t>
                              </m:r>
                            </m:oMath>
                          </m:oMathPara>
                        </a14:m>
                        <a:endParaRPr lang="en-US" sz="1600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" name="Oval 2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622" y="5979"/>
                        <a:ext cx="1159" cy="1159"/>
                      </a:xfrm>
                      <a:prstGeom prst="ellipse">
                        <a:avLst/>
                      </a:prstGeom>
                      <a:blipFill rotWithShape="1">
                        <a:blip r:embed="rId3"/>
                      </a:blip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en-US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" name="Oval 4"/>
                      <p:cNvSpPr/>
                      <p:nvPr/>
                    </p:nvSpPr>
                    <p:spPr>
                      <a:xfrm>
                        <a:off x="13580" y="2538"/>
                        <a:ext cx="1159" cy="1159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𝐷</m:t>
                              </m:r>
                            </m:oMath>
                          </m:oMathPara>
                        </a14:m>
                        <a:endParaRPr lang="en-US" sz="1600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5" name="Oval 4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3580" y="2538"/>
                        <a:ext cx="1159" cy="1159"/>
                      </a:xfrm>
                      <a:prstGeom prst="ellipse">
                        <a:avLst/>
                      </a:prstGeom>
                      <a:blipFill rotWithShape="1">
                        <a:blip r:embed="rId4"/>
                      </a:blip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en-US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6" name="Oval 5"/>
                      <p:cNvSpPr/>
                      <p:nvPr/>
                    </p:nvSpPr>
                    <p:spPr>
                      <a:xfrm>
                        <a:off x="14923" y="4105"/>
                        <a:ext cx="1159" cy="1159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C</m:t>
                              </m:r>
                            </m:oMath>
                          </m:oMathPara>
                        </a14:m>
                        <a:endParaRPr lang="en-US" sz="1600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6" name="Oval 5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4923" y="4105"/>
                        <a:ext cx="1159" cy="1159"/>
                      </a:xfrm>
                      <a:prstGeom prst="ellipse">
                        <a:avLst/>
                      </a:prstGeom>
                      <a:blipFill rotWithShape="1">
                        <a:blip r:embed="rId5"/>
                      </a:blip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en-US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1" name="Oval 10"/>
                      <p:cNvSpPr/>
                      <p:nvPr/>
                    </p:nvSpPr>
                    <p:spPr>
                      <a:xfrm>
                        <a:off x="16310" y="5979"/>
                        <a:ext cx="1159" cy="1159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Y</m:t>
                              </m:r>
                            </m:oMath>
                          </m:oMathPara>
                        </a14:m>
                        <a:endParaRPr lang="en-US" sz="1600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1" name="Oval 10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310" y="5979"/>
                        <a:ext cx="1159" cy="1159"/>
                      </a:xfrm>
                      <a:prstGeom prst="ellipse">
                        <a:avLst/>
                      </a:prstGeom>
                      <a:blipFill rotWithShape="1">
                        <a:blip r:embed="rId6"/>
                      </a:blip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en-US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2" name="Straight Arrow Connector 11"/>
                  <p:cNvCxnSpPr>
                    <a:stCxn id="5" idx="3"/>
                    <a:endCxn id="3" idx="0"/>
                  </p:cNvCxnSpPr>
                  <p:nvPr/>
                </p:nvCxnSpPr>
                <p:spPr>
                  <a:xfrm flipH="1">
                    <a:off x="12202" y="3528"/>
                    <a:ext cx="1548" cy="2451"/>
                  </a:xfrm>
                  <a:prstGeom prst="straightConnector1">
                    <a:avLst/>
                  </a:prstGeom>
                  <a:ln w="28575" cmpd="sng">
                    <a:solidFill>
                      <a:srgbClr val="FF6600"/>
                    </a:solidFill>
                    <a:prstDash val="dash"/>
                    <a:tailEnd type="stealth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Arrow Connector 12"/>
                  <p:cNvCxnSpPr>
                    <a:stCxn id="5" idx="5"/>
                  </p:cNvCxnSpPr>
                  <p:nvPr/>
                </p:nvCxnSpPr>
                <p:spPr>
                  <a:xfrm>
                    <a:off x="14569" y="3527"/>
                    <a:ext cx="552" cy="636"/>
                  </a:xfrm>
                  <a:prstGeom prst="straightConnector1">
                    <a:avLst/>
                  </a:prstGeom>
                  <a:ln w="28575" cmpd="sng">
                    <a:solidFill>
                      <a:srgbClr val="FF6600"/>
                    </a:solidFill>
                    <a:prstDash val="dash"/>
                    <a:tailEnd type="stealth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Arrow Connector 13"/>
                  <p:cNvCxnSpPr>
                    <a:stCxn id="6" idx="5"/>
                  </p:cNvCxnSpPr>
                  <p:nvPr/>
                </p:nvCxnSpPr>
                <p:spPr>
                  <a:xfrm>
                    <a:off x="15912" y="5094"/>
                    <a:ext cx="732" cy="887"/>
                  </a:xfrm>
                  <a:prstGeom prst="straightConnector1">
                    <a:avLst/>
                  </a:prstGeom>
                  <a:ln w="28575" cmpd="sng">
                    <a:solidFill>
                      <a:srgbClr val="7030A0"/>
                    </a:solidFill>
                    <a:prstDash val="solid"/>
                    <a:tailEnd type="stealth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/>
                  <p:cNvCxnSpPr>
                    <a:stCxn id="3" idx="6"/>
                    <a:endCxn id="11" idx="2"/>
                  </p:cNvCxnSpPr>
                  <p:nvPr/>
                </p:nvCxnSpPr>
                <p:spPr>
                  <a:xfrm>
                    <a:off x="12781" y="6559"/>
                    <a:ext cx="3529" cy="0"/>
                  </a:xfrm>
                  <a:prstGeom prst="straightConnector1">
                    <a:avLst/>
                  </a:prstGeom>
                  <a:ln w="28575" cmpd="sng">
                    <a:solidFill>
                      <a:srgbClr val="00B050"/>
                    </a:solidFill>
                    <a:prstDash val="solid"/>
                    <a:tailEnd type="stealth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7" name="Straight Arrow Connector 16"/>
                <p:cNvCxnSpPr>
                  <a:stCxn id="3" idx="7"/>
                  <a:endCxn id="6" idx="2"/>
                </p:cNvCxnSpPr>
                <p:nvPr/>
              </p:nvCxnSpPr>
              <p:spPr>
                <a:xfrm flipV="1">
                  <a:off x="12764" y="6150"/>
                  <a:ext cx="1545" cy="979"/>
                </a:xfrm>
                <a:prstGeom prst="straightConnector1">
                  <a:avLst/>
                </a:prstGeom>
                <a:ln w="28575" cmpd="sng">
                  <a:solidFill>
                    <a:srgbClr val="00B050"/>
                  </a:solidFill>
                  <a:prstDash val="solid"/>
                  <a:tailEnd type="stealth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Group 34"/>
              <p:cNvGrpSpPr/>
              <p:nvPr/>
            </p:nvGrpSpPr>
            <p:grpSpPr>
              <a:xfrm>
                <a:off x="15533" y="4061"/>
                <a:ext cx="2650" cy="1889"/>
                <a:chOff x="16195" y="4420"/>
                <a:chExt cx="2650" cy="1889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16206" y="4420"/>
                  <a:ext cx="2639" cy="530"/>
                  <a:chOff x="16206" y="4078"/>
                  <a:chExt cx="2639" cy="530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9" name="Oval 18"/>
                      <p:cNvSpPr/>
                      <p:nvPr/>
                    </p:nvSpPr>
                    <p:spPr>
                      <a:xfrm>
                        <a:off x="16206" y="4153"/>
                        <a:ext cx="381" cy="381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800" i="1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𝐷</m:t>
                              </m:r>
                            </m:oMath>
                          </m:oMathPara>
                        </a14:m>
                        <a:endParaRPr lang="en-US" sz="800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9" name="Oval 18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206" y="4153"/>
                        <a:ext cx="381" cy="381"/>
                      </a:xfrm>
                      <a:prstGeom prst="ellipse">
                        <a:avLst/>
                      </a:prstGeom>
                      <a:blipFill rotWithShape="1">
                        <a:blip r:embed="rId7"/>
                      </a:blip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en-US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7" name="Text Box 26"/>
                  <p:cNvSpPr txBox="1"/>
                  <p:nvPr/>
                </p:nvSpPr>
                <p:spPr>
                  <a:xfrm>
                    <a:off x="16541" y="4078"/>
                    <a:ext cx="2305" cy="5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l"/>
                    <a:r>
                      <a:rPr lang="en-US" sz="800"/>
                      <a:t>pretrain knowledge {texture, color, shape,...}</a:t>
                    </a:r>
                    <a:endParaRPr lang="en-US" sz="800"/>
                  </a:p>
                </p:txBody>
              </p: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16206" y="4973"/>
                  <a:ext cx="2639" cy="380"/>
                  <a:chOff x="16206" y="4621"/>
                  <a:chExt cx="2639" cy="380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0" name="Oval 19"/>
                      <p:cNvSpPr/>
                      <p:nvPr/>
                    </p:nvSpPr>
                    <p:spPr>
                      <a:xfrm>
                        <a:off x="16206" y="4621"/>
                        <a:ext cx="381" cy="381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900" i="1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𝑋</m:t>
                              </m:r>
                            </m:oMath>
                          </m:oMathPara>
                        </a14:m>
                        <a:endParaRPr lang="en-US" sz="900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0" name="Oval 19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206" y="4621"/>
                        <a:ext cx="381" cy="381"/>
                      </a:xfrm>
                      <a:prstGeom prst="ellipse">
                        <a:avLst/>
                      </a:prstGeom>
                      <a:blipFill rotWithShape="1">
                        <a:blip r:embed="rId8"/>
                      </a:blip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en-US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8" name="Text Box 27"/>
                  <p:cNvSpPr txBox="1"/>
                  <p:nvPr/>
                </p:nvSpPr>
                <p:spPr>
                  <a:xfrm>
                    <a:off x="16541" y="4643"/>
                    <a:ext cx="2305" cy="3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l"/>
                    <a:r>
                      <a:rPr lang="en-US" sz="800"/>
                      <a:t>feature reprs</a:t>
                    </a:r>
                    <a:endParaRPr lang="en-US" sz="800"/>
                  </a:p>
                </p:txBody>
              </p:sp>
            </p:grpSp>
            <p:grpSp>
              <p:nvGrpSpPr>
                <p:cNvPr id="31" name="Group 30"/>
                <p:cNvGrpSpPr/>
                <p:nvPr/>
              </p:nvGrpSpPr>
              <p:grpSpPr>
                <a:xfrm>
                  <a:off x="16206" y="5376"/>
                  <a:ext cx="2639" cy="530"/>
                  <a:chOff x="16206" y="5291"/>
                  <a:chExt cx="2639" cy="530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2" name="Oval 21"/>
                      <p:cNvSpPr/>
                      <p:nvPr/>
                    </p:nvSpPr>
                    <p:spPr>
                      <a:xfrm>
                        <a:off x="16206" y="5366"/>
                        <a:ext cx="381" cy="381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900" i="1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𝐶</m:t>
                              </m:r>
                            </m:oMath>
                          </m:oMathPara>
                        </a14:m>
                        <a:endParaRPr lang="en-US" sz="900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2" name="Oval 21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206" y="5366"/>
                        <a:ext cx="381" cy="381"/>
                      </a:xfrm>
                      <a:prstGeom prst="ellipse">
                        <a:avLst/>
                      </a:prstGeom>
                      <a:blipFill rotWithShape="1">
                        <a:blip r:embed="rId9"/>
                      </a:blip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en-US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9" name="Text Box 28"/>
                  <p:cNvSpPr txBox="1"/>
                  <p:nvPr/>
                </p:nvSpPr>
                <p:spPr>
                  <a:xfrm>
                    <a:off x="16541" y="5291"/>
                    <a:ext cx="2305" cy="5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l"/>
                    <a:r>
                      <a:rPr lang="en-US" sz="800"/>
                      <a:t>semantic manifold</a:t>
                    </a:r>
                    <a:br>
                      <a:rPr lang="en-US" sz="800"/>
                    </a:br>
                    <a:r>
                      <a:rPr lang="en-US" sz="800"/>
                      <a:t>{grass, sand, animal,...}</a:t>
                    </a:r>
                    <a:endParaRPr lang="en-US" sz="800"/>
                  </a:p>
                </p:txBody>
              </p:sp>
            </p:grpSp>
            <p:grpSp>
              <p:nvGrpSpPr>
                <p:cNvPr id="32" name="Group 31"/>
                <p:cNvGrpSpPr/>
                <p:nvPr/>
              </p:nvGrpSpPr>
              <p:grpSpPr>
                <a:xfrm>
                  <a:off x="16195" y="5929"/>
                  <a:ext cx="2650" cy="380"/>
                  <a:chOff x="16195" y="5928"/>
                  <a:chExt cx="2650" cy="380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1" name="Oval 20"/>
                      <p:cNvSpPr/>
                      <p:nvPr/>
                    </p:nvSpPr>
                    <p:spPr>
                      <a:xfrm>
                        <a:off x="16195" y="5928"/>
                        <a:ext cx="381" cy="381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900" i="1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𝑌</m:t>
                              </m:r>
                            </m:oMath>
                          </m:oMathPara>
                        </a14:m>
                        <a:endParaRPr lang="en-US" sz="900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1" name="Oval 20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195" y="5928"/>
                        <a:ext cx="381" cy="381"/>
                      </a:xfrm>
                      <a:prstGeom prst="ellipse">
                        <a:avLst/>
                      </a:prstGeom>
                      <a:blipFill rotWithShape="1">
                        <a:blip r:embed="rId10"/>
                      </a:blip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en-US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0" name="Text Box 29"/>
                  <p:cNvSpPr txBox="1"/>
                  <p:nvPr/>
                </p:nvSpPr>
                <p:spPr>
                  <a:xfrm>
                    <a:off x="16541" y="5950"/>
                    <a:ext cx="2305" cy="3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l"/>
                    <a:r>
                      <a:rPr lang="en-US" sz="800"/>
                      <a:t>logits/label</a:t>
                    </a:r>
                    <a:endParaRPr lang="en-US" sz="800"/>
                  </a:p>
                </p:txBody>
              </p:sp>
            </p:grpSp>
          </p:grpSp>
          <p:grpSp>
            <p:nvGrpSpPr>
              <p:cNvPr id="42" name="Group 41"/>
              <p:cNvGrpSpPr/>
              <p:nvPr/>
            </p:nvGrpSpPr>
            <p:grpSpPr>
              <a:xfrm>
                <a:off x="15489" y="5973"/>
                <a:ext cx="3364" cy="1319"/>
                <a:chOff x="11964" y="8290"/>
                <a:chExt cx="3364" cy="1319"/>
              </a:xfrm>
            </p:grpSpPr>
            <p:grpSp>
              <p:nvGrpSpPr>
                <p:cNvPr id="39" name="Group 38"/>
                <p:cNvGrpSpPr/>
                <p:nvPr/>
              </p:nvGrpSpPr>
              <p:grpSpPr>
                <a:xfrm>
                  <a:off x="11964" y="8290"/>
                  <a:ext cx="2727" cy="531"/>
                  <a:chOff x="11964" y="8290"/>
                  <a:chExt cx="2727" cy="531"/>
                </a:xfrm>
              </p:grpSpPr>
              <p:cxnSp>
                <p:nvCxnSpPr>
                  <p:cNvPr id="23" name="Straight Arrow Connector 22"/>
                  <p:cNvCxnSpPr/>
                  <p:nvPr/>
                </p:nvCxnSpPr>
                <p:spPr>
                  <a:xfrm flipH="1">
                    <a:off x="11964" y="8554"/>
                    <a:ext cx="432" cy="3"/>
                  </a:xfrm>
                  <a:prstGeom prst="straightConnector1">
                    <a:avLst/>
                  </a:prstGeom>
                  <a:ln w="28575" cmpd="sng">
                    <a:solidFill>
                      <a:srgbClr val="FF6600"/>
                    </a:solidFill>
                    <a:prstDash val="dash"/>
                    <a:tailEnd type="non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6" name="Text Box 35"/>
                      <p:cNvSpPr txBox="1"/>
                      <p:nvPr/>
                    </p:nvSpPr>
                    <p:spPr>
                      <a:xfrm>
                        <a:off x="12386" y="8290"/>
                        <a:ext cx="2305" cy="5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pPr algn="l"/>
                        <a:r>
                          <a:rPr lang="en-US" sz="800"/>
                          <a:t>backdoor (đường nhiễu)</a:t>
                        </a:r>
                        <a:endParaRPr lang="en-US" sz="800"/>
                      </a:p>
                      <a:p>
                        <a:pPr algn="l"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sz="8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𝑋</m:t>
                              </m:r>
                              <m:r>
                                <a:rPr lang="en-US" sz="8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←</m:t>
                              </m:r>
                              <m:r>
                                <a:rPr lang="en-US" sz="8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𝐷</m:t>
                              </m:r>
                              <m:r>
                                <a:rPr lang="en-US" sz="8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→</m:t>
                              </m:r>
                              <m:r>
                                <a:rPr lang="en-US" sz="8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𝐶</m:t>
                              </m:r>
                              <m:r>
                                <a:rPr lang="en-US" sz="8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→</m:t>
                              </m:r>
                              <m:r>
                                <a:rPr lang="en-US" sz="8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𝑌</m:t>
                              </m:r>
                            </m:oMath>
                          </m:oMathPara>
                        </a14:m>
                        <a:endParaRPr lang="en-US" sz="800"/>
                      </a:p>
                    </p:txBody>
                  </p:sp>
                </mc:Choice>
                <mc:Fallback>
                  <p:sp>
                    <p:nvSpPr>
                      <p:cNvPr id="36" name="Text Box 35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386" y="8290"/>
                        <a:ext cx="2305" cy="531"/>
                      </a:xfrm>
                      <a:prstGeom prst="rect">
                        <a:avLst/>
                      </a:prstGeom>
                      <a:blipFill rotWithShape="1">
                        <a:blip r:embed="rId11"/>
                      </a:blipFill>
                    </p:spPr>
                    <p:txBody>
                      <a:bodyPr/>
                      <a:lstStyle/>
                      <a:p>
                        <a:r>
                          <a:rPr lang="en-US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40" name="Group 39"/>
                <p:cNvGrpSpPr/>
                <p:nvPr/>
              </p:nvGrpSpPr>
              <p:grpSpPr>
                <a:xfrm>
                  <a:off x="11964" y="8684"/>
                  <a:ext cx="3364" cy="530"/>
                  <a:chOff x="11964" y="8684"/>
                  <a:chExt cx="3364" cy="530"/>
                </a:xfrm>
              </p:grpSpPr>
              <p:cxnSp>
                <p:nvCxnSpPr>
                  <p:cNvPr id="24" name="Straight Arrow Connector 23"/>
                  <p:cNvCxnSpPr/>
                  <p:nvPr/>
                </p:nvCxnSpPr>
                <p:spPr>
                  <a:xfrm flipH="1">
                    <a:off x="11964" y="8948"/>
                    <a:ext cx="432" cy="3"/>
                  </a:xfrm>
                  <a:prstGeom prst="straightConnector1">
                    <a:avLst/>
                  </a:prstGeom>
                  <a:ln w="28575" cmpd="sng">
                    <a:solidFill>
                      <a:srgbClr val="00B050"/>
                    </a:solidFill>
                    <a:prstDash val="solid"/>
                    <a:tailEnd type="non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7" name="Text Box 36"/>
                      <p:cNvSpPr txBox="1"/>
                      <p:nvPr/>
                    </p:nvSpPr>
                    <p:spPr>
                      <a:xfrm>
                        <a:off x="12386" y="8684"/>
                        <a:ext cx="2942" cy="5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pPr algn="l"/>
                        <a:r>
                          <a:rPr lang="en-US" sz="800"/>
                          <a:t>causal path (đường nhân quả)</a:t>
                        </a:r>
                        <a:endParaRPr lang="en-US" sz="800"/>
                      </a:p>
                      <a:p>
                        <a:pPr algn="l"/>
                        <a14:m>
                          <m:oMath xmlns:m="http://schemas.openxmlformats.org/officeDocument/2006/math">
                            <m:r>
                              <a:rPr lang="en-US" sz="8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𝑋</m:t>
                            </m:r>
                            <m:r>
                              <a:rPr lang="en-US" sz="8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→</m:t>
                            </m:r>
                            <m:r>
                              <a:rPr lang="en-US" sz="8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𝑌</m:t>
                            </m:r>
                          </m:oMath>
                        </a14:m>
                        <a:r>
                          <a:rPr lang="en-US" sz="800"/>
                          <a:t> và </a:t>
                        </a:r>
                        <a14:m>
                          <m:oMath xmlns:m="http://schemas.openxmlformats.org/officeDocument/2006/math">
                            <m:r>
                              <a:rPr lang="en-US" sz="8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𝑋</m:t>
                            </m:r>
                            <m:r>
                              <a:rPr lang="en-US" sz="8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→</m:t>
                            </m:r>
                            <m:r>
                              <a:rPr lang="en-US" sz="8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𝐶</m:t>
                            </m:r>
                            <m:r>
                              <a:rPr lang="en-US" sz="8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→</m:t>
                            </m:r>
                            <m:r>
                              <a:rPr lang="en-US" sz="8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𝑌</m:t>
                            </m:r>
                          </m:oMath>
                        </a14:m>
                        <a:endParaRPr lang="en-US" sz="800"/>
                      </a:p>
                    </p:txBody>
                  </p:sp>
                </mc:Choice>
                <mc:Fallback>
                  <p:sp>
                    <p:nvSpPr>
                      <p:cNvPr id="37" name="Text Box 3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386" y="8684"/>
                        <a:ext cx="2942" cy="531"/>
                      </a:xfrm>
                      <a:prstGeom prst="rect">
                        <a:avLst/>
                      </a:prstGeom>
                      <a:blipFill rotWithShape="1">
                        <a:blip r:embed="rId12"/>
                      </a:blipFill>
                    </p:spPr>
                    <p:txBody>
                      <a:bodyPr/>
                      <a:lstStyle/>
                      <a:p>
                        <a:r>
                          <a:rPr lang="en-US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41" name="Group 40"/>
                <p:cNvGrpSpPr/>
                <p:nvPr/>
              </p:nvGrpSpPr>
              <p:grpSpPr>
                <a:xfrm>
                  <a:off x="11964" y="9078"/>
                  <a:ext cx="3364" cy="531"/>
                  <a:chOff x="11964" y="9078"/>
                  <a:chExt cx="3364" cy="531"/>
                </a:xfrm>
              </p:grpSpPr>
              <p:cxnSp>
                <p:nvCxnSpPr>
                  <p:cNvPr id="25" name="Straight Arrow Connector 24"/>
                  <p:cNvCxnSpPr/>
                  <p:nvPr/>
                </p:nvCxnSpPr>
                <p:spPr>
                  <a:xfrm flipH="1">
                    <a:off x="11964" y="9342"/>
                    <a:ext cx="432" cy="3"/>
                  </a:xfrm>
                  <a:prstGeom prst="straightConnector1">
                    <a:avLst/>
                  </a:prstGeom>
                  <a:ln w="28575" cmpd="sng">
                    <a:solidFill>
                      <a:srgbClr val="7030A0"/>
                    </a:solidFill>
                    <a:prstDash val="solid"/>
                    <a:tailEnd type="non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8" name="Text Box 37"/>
                      <p:cNvSpPr txBox="1"/>
                      <p:nvPr/>
                    </p:nvSpPr>
                    <p:spPr>
                      <a:xfrm>
                        <a:off x="12386" y="9078"/>
                        <a:ext cx="2942" cy="5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pPr algn="l"/>
                        <a:r>
                          <a:rPr lang="en-US" sz="800"/>
                          <a:t>đường chung</a:t>
                        </a:r>
                        <a:endParaRPr lang="en-US" sz="800"/>
                      </a:p>
                      <a:p>
                        <a:pPr algn="l"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sz="8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𝐶</m:t>
                              </m:r>
                              <m:r>
                                <a:rPr lang="en-US" sz="8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→</m:t>
                              </m:r>
                              <m:r>
                                <a:rPr lang="en-US" sz="8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𝑌</m:t>
                              </m:r>
                            </m:oMath>
                          </m:oMathPara>
                        </a14:m>
                        <a:endParaRPr lang="en-US" sz="800"/>
                      </a:p>
                    </p:txBody>
                  </p:sp>
                </mc:Choice>
                <mc:Fallback>
                  <p:sp>
                    <p:nvSpPr>
                      <p:cNvPr id="38" name="Text Box 37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386" y="9078"/>
                        <a:ext cx="2942" cy="531"/>
                      </a:xfrm>
                      <a:prstGeom prst="rect">
                        <a:avLst/>
                      </a:prstGeom>
                      <a:blipFill rotWithShape="1">
                        <a:blip r:embed="rId13"/>
                      </a:blipFill>
                    </p:spPr>
                    <p:txBody>
                      <a:bodyPr/>
                      <a:lstStyle/>
                      <a:p>
                        <a:r>
                          <a:rPr lang="en-US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sp>
          <p:nvSpPr>
            <p:cNvPr id="44" name="Text Box 43"/>
            <p:cNvSpPr txBox="1"/>
            <p:nvPr/>
          </p:nvSpPr>
          <p:spPr>
            <a:xfrm>
              <a:off x="10229" y="8247"/>
              <a:ext cx="765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vi-VN" altLang="en-US" sz="800"/>
                <a:t>Hình </a:t>
              </a:r>
              <a:r>
                <a:rPr lang="en-US" altLang="vi-VN" sz="800"/>
                <a:t>2</a:t>
              </a:r>
              <a:r>
                <a:rPr lang="vi-VN" altLang="en-US" sz="800"/>
                <a:t>: Giải thích nguyên nhân qua sơ đồ cấu trúc nhân quả (SCM)</a:t>
              </a:r>
              <a:r>
                <a:rPr lang="en-US" altLang="vi-VN" sz="800"/>
                <a:t> [1]</a:t>
              </a:r>
              <a:endParaRPr lang="en-US" altLang="vi-VN" sz="800"/>
            </a:p>
          </p:txBody>
        </p:sp>
      </p:grpSp>
      <p:sp>
        <p:nvSpPr>
          <p:cNvPr id="48" name="Text Box 47"/>
          <p:cNvSpPr txBox="1"/>
          <p:nvPr/>
        </p:nvSpPr>
        <p:spPr>
          <a:xfrm>
            <a:off x="647700" y="5297805"/>
            <a:ext cx="67710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sz="1400" i="1">
                <a:solidFill>
                  <a:schemeClr val="tx1"/>
                </a:solidFill>
                <a:sym typeface="+mn-ea"/>
              </a:rPr>
              <a:t>Làm thế nào để giải thích hiện tượng này trong ngữ cảnh Meta-Learning?</a:t>
            </a:r>
            <a:endParaRPr lang="en-US" sz="1400" i="1">
              <a:solidFill>
                <a:schemeClr val="tx1"/>
              </a:solidFill>
              <a:sym typeface="+mn-ea"/>
            </a:endParaRPr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1. </a:t>
            </a:r>
            <a:r>
              <a:rPr lang="en-US">
                <a:sym typeface="+mn-ea"/>
              </a:rPr>
              <a:t>Giới thiệu đề tài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647700" y="1230630"/>
            <a:ext cx="65646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 u="sng"/>
              <a:t>Tính blackbox của quá trình thích ứng nhanh</a:t>
            </a:r>
            <a:endParaRPr lang="en-US" sz="1400" u="sng"/>
          </a:p>
          <a:p>
            <a:r>
              <a:rPr lang="en-US" sz="1600"/>
              <a:t>- Đa phần các phương pháp meta-learning hay MAML-based hiện tại vẫn là </a:t>
            </a:r>
            <a:r>
              <a:rPr lang="en-US" sz="1600" b="1"/>
              <a:t>mô hình hộp đen</a:t>
            </a:r>
            <a:r>
              <a:rPr lang="en-US" sz="1600"/>
              <a:t>.</a:t>
            </a:r>
            <a:endParaRPr lang="en-US" sz="1600"/>
          </a:p>
          <a:p>
            <a:r>
              <a:rPr lang="en-US" sz="1600"/>
              <a:t>- Do đó, một cơ chế giải thích quá trình thích ứng nhanh của Meta-Learning là cần thiết.</a:t>
            </a:r>
            <a:endParaRPr lang="en-US" sz="1600"/>
          </a:p>
        </p:txBody>
      </p:sp>
      <p:grpSp>
        <p:nvGrpSpPr>
          <p:cNvPr id="28" name="Group 27"/>
          <p:cNvGrpSpPr/>
          <p:nvPr/>
        </p:nvGrpSpPr>
        <p:grpSpPr>
          <a:xfrm>
            <a:off x="1605915" y="2969895"/>
            <a:ext cx="6053219" cy="1027947"/>
            <a:chOff x="4296" y="4906"/>
            <a:chExt cx="10728" cy="1989"/>
          </a:xfrm>
        </p:grpSpPr>
        <p:sp>
          <p:nvSpPr>
            <p:cNvPr id="3" name="Cube 2"/>
            <p:cNvSpPr/>
            <p:nvPr/>
          </p:nvSpPr>
          <p:spPr>
            <a:xfrm>
              <a:off x="7611" y="4906"/>
              <a:ext cx="3978" cy="1989"/>
            </a:xfrm>
            <a:prstGeom prst="cube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/>
                <a:t>Black-box</a:t>
              </a:r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Rectangles 4"/>
                <p:cNvSpPr/>
                <p:nvPr/>
              </p:nvSpPr>
              <p:spPr>
                <a:xfrm>
                  <a:off x="4296" y="5431"/>
                  <a:ext cx="1582" cy="1028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input</a:t>
                  </a:r>
                  <a:endParaRPr lang="en-US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400" i="1">
                    <a:solidFill>
                      <a:schemeClr val="tx1"/>
                    </a:solidFill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5" name="Rectangles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6" y="5431"/>
                  <a:ext cx="1582" cy="1028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Rectangles 5"/>
                <p:cNvSpPr/>
                <p:nvPr/>
              </p:nvSpPr>
              <p:spPr>
                <a:xfrm>
                  <a:off x="13364" y="5335"/>
                  <a:ext cx="1660" cy="1078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output</a:t>
                  </a:r>
                  <a:endParaRPr lang="en-US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1400" i="1">
                    <a:solidFill>
                      <a:schemeClr val="tx1"/>
                    </a:solidFill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6" name="Rectangles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4" y="5335"/>
                  <a:ext cx="1660" cy="1078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>
              <a:stCxn id="5" idx="3"/>
            </p:cNvCxnSpPr>
            <p:nvPr/>
          </p:nvCxnSpPr>
          <p:spPr>
            <a:xfrm>
              <a:off x="5878" y="5946"/>
              <a:ext cx="1723" cy="12"/>
            </a:xfrm>
            <a:prstGeom prst="straightConnector1">
              <a:avLst/>
            </a:prstGeom>
            <a:ln>
              <a:solidFill>
                <a:srgbClr val="20202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6" idx="1"/>
            </p:cNvCxnSpPr>
            <p:nvPr/>
          </p:nvCxnSpPr>
          <p:spPr>
            <a:xfrm>
              <a:off x="11604" y="5874"/>
              <a:ext cx="1760" cy="0"/>
            </a:xfrm>
            <a:prstGeom prst="straightConnector1">
              <a:avLst/>
            </a:prstGeom>
            <a:ln>
              <a:solidFill>
                <a:srgbClr val="20202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 Box 36"/>
          <p:cNvSpPr txBox="1"/>
          <p:nvPr/>
        </p:nvSpPr>
        <p:spPr>
          <a:xfrm>
            <a:off x="9953625" y="3191510"/>
            <a:ext cx="78168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6600" b="1">
                <a:solidFill>
                  <a:srgbClr val="FF0000"/>
                </a:solidFill>
                <a:latin typeface="Noto Serif Display ExtraCondensed Medium" panose="02020606080505020204" charset="0"/>
                <a:cs typeface="Noto Serif Display ExtraCondensed Medium" panose="02020606080505020204" charset="0"/>
              </a:rPr>
              <a:t>?</a:t>
            </a:r>
            <a:endParaRPr lang="en-US" sz="6600" b="1">
              <a:solidFill>
                <a:srgbClr val="FF0000"/>
              </a:solidFill>
              <a:latin typeface="Noto Serif Display ExtraCondensed Medium" panose="02020606080505020204" charset="0"/>
              <a:cs typeface="Noto Serif Display ExtraCondensed Medium" panose="02020606080505020204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8295005" y="2390775"/>
            <a:ext cx="2061210" cy="2214880"/>
            <a:chOff x="11313" y="3508"/>
            <a:chExt cx="3246" cy="3488"/>
          </a:xfrm>
        </p:grpSpPr>
        <p:grpSp>
          <p:nvGrpSpPr>
            <p:cNvPr id="24" name="Group 23"/>
            <p:cNvGrpSpPr/>
            <p:nvPr/>
          </p:nvGrpSpPr>
          <p:grpSpPr>
            <a:xfrm>
              <a:off x="11313" y="3508"/>
              <a:ext cx="3246" cy="3488"/>
              <a:chOff x="11313" y="3508"/>
              <a:chExt cx="3246" cy="3488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11313" y="3508"/>
                <a:ext cx="3247" cy="3488"/>
                <a:chOff x="3366" y="7040"/>
                <a:chExt cx="3247" cy="3488"/>
              </a:xfrm>
            </p:grpSpPr>
            <p:cxnSp>
              <p:nvCxnSpPr>
                <p:cNvPr id="27" name="Curved Connector 26"/>
                <p:cNvCxnSpPr/>
                <p:nvPr/>
              </p:nvCxnSpPr>
              <p:spPr>
                <a:xfrm>
                  <a:off x="3366" y="7344"/>
                  <a:ext cx="1937" cy="1918"/>
                </a:xfrm>
                <a:prstGeom prst="curvedConnector2">
                  <a:avLst/>
                </a:prstGeom>
                <a:ln w="25400" cmpd="sng">
                  <a:solidFill>
                    <a:schemeClr val="tx1"/>
                  </a:solidFill>
                  <a:prstDash val="solid"/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8" name="Text Box 37"/>
                    <p:cNvSpPr txBox="1"/>
                    <p:nvPr/>
                  </p:nvSpPr>
                  <p:spPr>
                    <a:xfrm>
                      <a:off x="5040" y="8681"/>
                      <a:ext cx="1175" cy="58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t">
                      <a:spAutoFit/>
                    </a:bodyPr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/>
                    </a:p>
                  </p:txBody>
                </p:sp>
              </mc:Choice>
              <mc:Fallback>
                <p:sp>
                  <p:nvSpPr>
                    <p:cNvPr id="38" name="Text Box 3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40" y="8681"/>
                      <a:ext cx="1175" cy="581"/>
                    </a:xfrm>
                    <a:prstGeom prst="rect">
                      <a:avLst/>
                    </a:prstGeom>
                    <a:blipFill rotWithShape="1">
                      <a:blip r:embed="rId3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9" name="Text Box 38"/>
                    <p:cNvSpPr txBox="1"/>
                    <p:nvPr/>
                  </p:nvSpPr>
                  <p:spPr>
                    <a:xfrm>
                      <a:off x="3690" y="7040"/>
                      <a:ext cx="809" cy="58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t">
                      <a:spAutoFit/>
                    </a:bodyPr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en-US"/>
                    </a:p>
                  </p:txBody>
                </p:sp>
              </mc:Choice>
              <mc:Fallback>
                <p:sp>
                  <p:nvSpPr>
                    <p:cNvPr id="39" name="Text Box 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90" y="7040"/>
                      <a:ext cx="809" cy="580"/>
                    </a:xfrm>
                    <a:prstGeom prst="rect">
                      <a:avLst/>
                    </a:prstGeom>
                    <a:blipFill rotWithShape="1">
                      <a:blip r:embed="rId4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0" name="Curved Connector 39"/>
                <p:cNvCxnSpPr>
                  <a:endCxn id="42" idx="0"/>
                </p:cNvCxnSpPr>
                <p:nvPr/>
              </p:nvCxnSpPr>
              <p:spPr>
                <a:xfrm rot="10800000" flipV="1">
                  <a:off x="4768" y="9172"/>
                  <a:ext cx="511" cy="354"/>
                </a:xfrm>
                <a:prstGeom prst="curvedConnector2">
                  <a:avLst/>
                </a:prstGeom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urved Connector 40"/>
                <p:cNvCxnSpPr>
                  <a:endCxn id="43" idx="0"/>
                </p:cNvCxnSpPr>
                <p:nvPr/>
              </p:nvCxnSpPr>
              <p:spPr>
                <a:xfrm>
                  <a:off x="5348" y="9195"/>
                  <a:ext cx="871" cy="730"/>
                </a:xfrm>
                <a:prstGeom prst="curvedConnector2">
                  <a:avLst/>
                </a:prstGeom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2" name="Text Box 41"/>
                    <p:cNvSpPr txBox="1"/>
                    <p:nvPr/>
                  </p:nvSpPr>
                  <p:spPr>
                    <a:xfrm>
                      <a:off x="4374" y="9526"/>
                      <a:ext cx="789" cy="60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t">
                      <a:spAutoFit/>
                    </a:bodyPr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∅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∗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/>
                    </a:p>
                  </p:txBody>
                </p:sp>
              </mc:Choice>
              <mc:Fallback>
                <p:sp>
                  <p:nvSpPr>
                    <p:cNvPr id="42" name="Text Box 4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74" y="9526"/>
                      <a:ext cx="789" cy="603"/>
                    </a:xfrm>
                    <a:prstGeom prst="rect">
                      <a:avLst/>
                    </a:prstGeom>
                    <a:blipFill rotWithShape="1">
                      <a:blip r:embed="rId5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3" name="Text Box 42"/>
                    <p:cNvSpPr txBox="1"/>
                    <p:nvPr/>
                  </p:nvSpPr>
                  <p:spPr>
                    <a:xfrm>
                      <a:off x="5824" y="9925"/>
                      <a:ext cx="789" cy="60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t">
                      <a:spAutoFit/>
                    </a:bodyPr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∅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∗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/>
                    </a:p>
                  </p:txBody>
                </p:sp>
              </mc:Choice>
              <mc:Fallback>
                <p:sp>
                  <p:nvSpPr>
                    <p:cNvPr id="43" name="Text Box 4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24" y="9925"/>
                      <a:ext cx="789" cy="603"/>
                    </a:xfrm>
                    <a:prstGeom prst="rect">
                      <a:avLst/>
                    </a:prstGeom>
                    <a:blipFill rotWithShape="1">
                      <a:blip r:embed="rId6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44" name="Straight Arrow Connector 43"/>
              <p:cNvCxnSpPr/>
              <p:nvPr/>
            </p:nvCxnSpPr>
            <p:spPr>
              <a:xfrm>
                <a:off x="12386" y="4162"/>
                <a:ext cx="863" cy="498"/>
              </a:xfrm>
              <a:prstGeom prst="straightConnector1">
                <a:avLst/>
              </a:prstGeom>
              <a:ln w="12700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>
                <a:off x="12402" y="4162"/>
                <a:ext cx="4" cy="755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6" name="Text Box 45"/>
                  <p:cNvSpPr txBox="1"/>
                  <p:nvPr/>
                </p:nvSpPr>
                <p:spPr>
                  <a:xfrm>
                    <a:off x="12630" y="4003"/>
                    <a:ext cx="738" cy="483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>
                      <a:latin typeface="DejaVu Math TeX Gyre" panose="02000503000000000000" charset="0"/>
                      <a:cs typeface="DejaVu Math TeX Gyre" panose="02000503000000000000" charset="0"/>
                    </a:endParaRPr>
                  </a:p>
                </p:txBody>
              </p:sp>
            </mc:Choice>
            <mc:Fallback>
              <p:sp>
                <p:nvSpPr>
                  <p:cNvPr id="46" name="Text Box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30" y="4003"/>
                    <a:ext cx="738" cy="483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Text Box 46"/>
                  <p:cNvSpPr txBox="1"/>
                  <p:nvPr/>
                </p:nvSpPr>
                <p:spPr>
                  <a:xfrm>
                    <a:off x="11801" y="4266"/>
                    <a:ext cx="733" cy="483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sz="1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>
                      <a:latin typeface="DejaVu Math TeX Gyre" panose="02000503000000000000" charset="0"/>
                      <a:cs typeface="DejaVu Math TeX Gyre" panose="02000503000000000000" charset="0"/>
                    </a:endParaRPr>
                  </a:p>
                </p:txBody>
              </p:sp>
            </mc:Choice>
            <mc:Fallback>
              <p:sp>
                <p:nvSpPr>
                  <p:cNvPr id="47" name="Text 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01" y="4266"/>
                    <a:ext cx="733" cy="483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 Box 47"/>
                <p:cNvSpPr txBox="1"/>
                <p:nvPr/>
              </p:nvSpPr>
              <p:spPr>
                <a:xfrm>
                  <a:off x="12385" y="5413"/>
                  <a:ext cx="708" cy="483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i="1"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48" name="Text 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85" y="5413"/>
                  <a:ext cx="708" cy="483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 Box 48"/>
                <p:cNvSpPr txBox="1"/>
                <p:nvPr/>
              </p:nvSpPr>
              <p:spPr>
                <a:xfrm>
                  <a:off x="13700" y="5511"/>
                  <a:ext cx="680" cy="483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i="1"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49" name="Text 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00" y="5511"/>
                  <a:ext cx="680" cy="483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ext Box 32"/>
          <p:cNvSpPr txBox="1"/>
          <p:nvPr/>
        </p:nvSpPr>
        <p:spPr>
          <a:xfrm>
            <a:off x="647700" y="4916170"/>
            <a:ext cx="53917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sz="1400" i="1">
                <a:sym typeface="+mn-ea"/>
              </a:rPr>
              <a:t>Làm cách nào để biết chính xác quá trình thích ứng này có </a:t>
            </a:r>
            <a:r>
              <a:rPr lang="en-US" sz="1400" b="1" i="1">
                <a:sym typeface="+mn-ea"/>
              </a:rPr>
              <a:t>lợi</a:t>
            </a:r>
            <a:r>
              <a:rPr lang="en-US" sz="1400" i="1">
                <a:sym typeface="+mn-ea"/>
              </a:rPr>
              <a:t> hay có </a:t>
            </a:r>
            <a:r>
              <a:rPr lang="en-US" sz="1400" b="1" i="1">
                <a:sym typeface="+mn-ea"/>
              </a:rPr>
              <a:t>hại</a:t>
            </a:r>
            <a:r>
              <a:rPr lang="en-US" sz="1400" i="1">
                <a:sym typeface="+mn-ea"/>
              </a:rPr>
              <a:t>, và </a:t>
            </a:r>
            <a:r>
              <a:rPr lang="en-US" sz="1400" b="1" i="1">
                <a:sym typeface="+mn-ea"/>
              </a:rPr>
              <a:t>bao nhiêu</a:t>
            </a:r>
            <a:r>
              <a:rPr lang="en-US" sz="1400" i="1">
                <a:sym typeface="+mn-ea"/>
              </a:rPr>
              <a:t>?</a:t>
            </a:r>
            <a:endParaRPr lang="en-US" sz="1400" i="1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47700" y="5530850"/>
            <a:ext cx="557022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sz="1400" i="1">
                <a:sym typeface="+mn-ea"/>
              </a:rPr>
              <a:t>Nếu quá trình đó có lợi/hại thì </a:t>
            </a:r>
            <a:r>
              <a:rPr lang="en-US" sz="1400" b="1" i="1">
                <a:sym typeface="+mn-ea"/>
              </a:rPr>
              <a:t>cái gì đã gây ra điều đó</a:t>
            </a:r>
            <a:r>
              <a:rPr lang="en-US" sz="1400" i="1">
                <a:sym typeface="+mn-ea"/>
              </a:rPr>
              <a:t>?</a:t>
            </a:r>
            <a:endParaRPr lang="en-US" sz="1400" i="1">
              <a:sym typeface="+mn-ea"/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2. Phát biểu bài toán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854075" y="6431915"/>
            <a:ext cx="68256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800"/>
              <a:t>[</a:t>
            </a:r>
            <a:r>
              <a:rPr lang="en-US" altLang="vi-VN" sz="800"/>
              <a:t>2</a:t>
            </a:r>
            <a:r>
              <a:rPr lang="vi-VN" altLang="en-US" sz="800"/>
              <a:t>] </a:t>
            </a:r>
            <a:r>
              <a:rPr lang="en-US" altLang="en-US" sz="800"/>
              <a:t>MAML (</a:t>
            </a:r>
            <a:r>
              <a:rPr lang="en-US" sz="800">
                <a:sym typeface="+mn-ea"/>
              </a:rPr>
              <a:t>Finn et al. ‘17)</a:t>
            </a:r>
            <a:endParaRPr lang="en-US" altLang="en-US" sz="800">
              <a:sym typeface="+mn-ea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241425" y="1718028"/>
            <a:ext cx="10112297" cy="2831152"/>
            <a:chOff x="661" y="2503"/>
            <a:chExt cx="18151" cy="5082"/>
          </a:xfrm>
        </p:grpSpPr>
        <p:grpSp>
          <p:nvGrpSpPr>
            <p:cNvPr id="43" name="Group 42"/>
            <p:cNvGrpSpPr/>
            <p:nvPr/>
          </p:nvGrpSpPr>
          <p:grpSpPr>
            <a:xfrm>
              <a:off x="661" y="3151"/>
              <a:ext cx="8279" cy="3810"/>
              <a:chOff x="810" y="3468"/>
              <a:chExt cx="8279" cy="3810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810" y="3571"/>
                <a:ext cx="8041" cy="3707"/>
                <a:chOff x="259" y="3469"/>
                <a:chExt cx="8041" cy="3707"/>
              </a:xfrm>
            </p:grpSpPr>
            <p:grpSp>
              <p:nvGrpSpPr>
                <p:cNvPr id="15" name="Group 14"/>
                <p:cNvGrpSpPr/>
                <p:nvPr/>
              </p:nvGrpSpPr>
              <p:grpSpPr>
                <a:xfrm>
                  <a:off x="2405" y="3469"/>
                  <a:ext cx="5895" cy="3707"/>
                  <a:chOff x="2120" y="3469"/>
                  <a:chExt cx="5895" cy="3707"/>
                </a:xfrm>
              </p:grpSpPr>
              <p:grpSp>
                <p:nvGrpSpPr>
                  <p:cNvPr id="16" name="Group 15"/>
                  <p:cNvGrpSpPr/>
                  <p:nvPr/>
                </p:nvGrpSpPr>
                <p:grpSpPr>
                  <a:xfrm>
                    <a:off x="2121" y="3469"/>
                    <a:ext cx="5894" cy="598"/>
                    <a:chOff x="2121" y="3870"/>
                    <a:chExt cx="5894" cy="598"/>
                  </a:xfrm>
                </p:grpSpPr>
                <p:sp>
                  <p:nvSpPr>
                    <p:cNvPr id="18" name="Rectangles 17"/>
                    <p:cNvSpPr/>
                    <p:nvPr/>
                  </p:nvSpPr>
                  <p:spPr>
                    <a:xfrm>
                      <a:off x="2121" y="3870"/>
                      <a:ext cx="1019" cy="59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1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19" name="Rectangles 18"/>
                    <p:cNvSpPr/>
                    <p:nvPr/>
                  </p:nvSpPr>
                  <p:spPr>
                    <a:xfrm>
                      <a:off x="3340" y="3870"/>
                      <a:ext cx="1019" cy="59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2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20" name="Rectangles 19"/>
                    <p:cNvSpPr/>
                    <p:nvPr/>
                  </p:nvSpPr>
                  <p:spPr>
                    <a:xfrm>
                      <a:off x="4559" y="3870"/>
                      <a:ext cx="1019" cy="59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3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41" name="Rectangles 40"/>
                    <p:cNvSpPr/>
                    <p:nvPr/>
                  </p:nvSpPr>
                  <p:spPr>
                    <a:xfrm>
                      <a:off x="5778" y="3870"/>
                      <a:ext cx="1019" cy="59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/>
                        <a:t>...</a:t>
                      </a:r>
                      <a:endParaRPr lang="vi-VN" altLang="en-US"/>
                    </a:p>
                  </p:txBody>
                </p:sp>
                <p:sp>
                  <p:nvSpPr>
                    <p:cNvPr id="42" name="Rectangles 41"/>
                    <p:cNvSpPr/>
                    <p:nvPr/>
                  </p:nvSpPr>
                  <p:spPr>
                    <a:xfrm>
                      <a:off x="6997" y="3870"/>
                      <a:ext cx="1019" cy="59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k</a:t>
                      </a:r>
                      <a:endParaRPr lang="vi-VN" altLang="en-US" sz="1600" baseline="-25000"/>
                    </a:p>
                  </p:txBody>
                </p:sp>
              </p:grpSp>
              <p:grpSp>
                <p:nvGrpSpPr>
                  <p:cNvPr id="44" name="Group 43"/>
                  <p:cNvGrpSpPr/>
                  <p:nvPr/>
                </p:nvGrpSpPr>
                <p:grpSpPr>
                  <a:xfrm>
                    <a:off x="2121" y="4372"/>
                    <a:ext cx="5894" cy="598"/>
                    <a:chOff x="2121" y="3870"/>
                    <a:chExt cx="5894" cy="598"/>
                  </a:xfrm>
                </p:grpSpPr>
                <p:sp>
                  <p:nvSpPr>
                    <p:cNvPr id="45" name="Rectangles 44"/>
                    <p:cNvSpPr/>
                    <p:nvPr/>
                  </p:nvSpPr>
                  <p:spPr>
                    <a:xfrm>
                      <a:off x="2121" y="3870"/>
                      <a:ext cx="1019" cy="599"/>
                    </a:xfrm>
                    <a:prstGeom prst="rect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1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46" name="Rectangles 45"/>
                    <p:cNvSpPr/>
                    <p:nvPr/>
                  </p:nvSpPr>
                  <p:spPr>
                    <a:xfrm>
                      <a:off x="3340" y="3870"/>
                      <a:ext cx="1019" cy="599"/>
                    </a:xfrm>
                    <a:prstGeom prst="rect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2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47" name="Rectangles 46"/>
                    <p:cNvSpPr/>
                    <p:nvPr/>
                  </p:nvSpPr>
                  <p:spPr>
                    <a:xfrm>
                      <a:off x="4559" y="3870"/>
                      <a:ext cx="1019" cy="599"/>
                    </a:xfrm>
                    <a:prstGeom prst="rect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3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48" name="Rectangles 47"/>
                    <p:cNvSpPr/>
                    <p:nvPr/>
                  </p:nvSpPr>
                  <p:spPr>
                    <a:xfrm>
                      <a:off x="5778" y="3870"/>
                      <a:ext cx="1019" cy="599"/>
                    </a:xfrm>
                    <a:prstGeom prst="rect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/>
                        <a:t>...</a:t>
                      </a:r>
                      <a:endParaRPr lang="vi-VN" altLang="en-US"/>
                    </a:p>
                  </p:txBody>
                </p:sp>
                <p:sp>
                  <p:nvSpPr>
                    <p:cNvPr id="49" name="Rectangles 48"/>
                    <p:cNvSpPr/>
                    <p:nvPr/>
                  </p:nvSpPr>
                  <p:spPr>
                    <a:xfrm>
                      <a:off x="6997" y="3870"/>
                      <a:ext cx="1019" cy="599"/>
                    </a:xfrm>
                    <a:prstGeom prst="rect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k</a:t>
                      </a:r>
                      <a:endParaRPr lang="vi-VN" altLang="en-US" sz="1600" baseline="-25000"/>
                    </a:p>
                  </p:txBody>
                </p:sp>
              </p:grpSp>
              <p:grpSp>
                <p:nvGrpSpPr>
                  <p:cNvPr id="50" name="Group 49"/>
                  <p:cNvGrpSpPr/>
                  <p:nvPr/>
                </p:nvGrpSpPr>
                <p:grpSpPr>
                  <a:xfrm>
                    <a:off x="2120" y="5275"/>
                    <a:ext cx="5894" cy="598"/>
                    <a:chOff x="2121" y="3870"/>
                    <a:chExt cx="5894" cy="598"/>
                  </a:xfrm>
                </p:grpSpPr>
                <p:sp>
                  <p:nvSpPr>
                    <p:cNvPr id="51" name="Rectangles 50"/>
                    <p:cNvSpPr/>
                    <p:nvPr/>
                  </p:nvSpPr>
                  <p:spPr>
                    <a:xfrm>
                      <a:off x="2121" y="3870"/>
                      <a:ext cx="1019" cy="599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1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52" name="Rectangles 51"/>
                    <p:cNvSpPr/>
                    <p:nvPr/>
                  </p:nvSpPr>
                  <p:spPr>
                    <a:xfrm>
                      <a:off x="3340" y="3870"/>
                      <a:ext cx="1019" cy="599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2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53" name="Rectangles 52"/>
                    <p:cNvSpPr/>
                    <p:nvPr/>
                  </p:nvSpPr>
                  <p:spPr>
                    <a:xfrm>
                      <a:off x="4559" y="3870"/>
                      <a:ext cx="1019" cy="599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3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54" name="Rectangles 53"/>
                    <p:cNvSpPr/>
                    <p:nvPr/>
                  </p:nvSpPr>
                  <p:spPr>
                    <a:xfrm>
                      <a:off x="5778" y="3870"/>
                      <a:ext cx="1019" cy="599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/>
                        <a:t>...</a:t>
                      </a:r>
                      <a:endParaRPr lang="vi-VN" altLang="en-US"/>
                    </a:p>
                  </p:txBody>
                </p:sp>
                <p:sp>
                  <p:nvSpPr>
                    <p:cNvPr id="55" name="Rectangles 54"/>
                    <p:cNvSpPr/>
                    <p:nvPr/>
                  </p:nvSpPr>
                  <p:spPr>
                    <a:xfrm>
                      <a:off x="6997" y="3870"/>
                      <a:ext cx="1019" cy="599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k</a:t>
                      </a:r>
                      <a:endParaRPr lang="vi-VN" altLang="en-US" sz="1600" baseline="-25000"/>
                    </a:p>
                  </p:txBody>
                </p:sp>
              </p:grpSp>
              <p:grpSp>
                <p:nvGrpSpPr>
                  <p:cNvPr id="56" name="Group 55"/>
                  <p:cNvGrpSpPr/>
                  <p:nvPr/>
                </p:nvGrpSpPr>
                <p:grpSpPr>
                  <a:xfrm>
                    <a:off x="2121" y="6578"/>
                    <a:ext cx="5894" cy="598"/>
                    <a:chOff x="2121" y="3870"/>
                    <a:chExt cx="5894" cy="598"/>
                  </a:xfrm>
                </p:grpSpPr>
                <p:sp>
                  <p:nvSpPr>
                    <p:cNvPr id="57" name="Rectangles 56"/>
                    <p:cNvSpPr/>
                    <p:nvPr/>
                  </p:nvSpPr>
                  <p:spPr>
                    <a:xfrm>
                      <a:off x="2121" y="3870"/>
                      <a:ext cx="1019" cy="599"/>
                    </a:xfrm>
                    <a:prstGeom prst="rect">
                      <a:avLst/>
                    </a:prstGeom>
                    <a:solidFill>
                      <a:srgbClr val="7030A0"/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1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58" name="Rectangles 57"/>
                    <p:cNvSpPr/>
                    <p:nvPr/>
                  </p:nvSpPr>
                  <p:spPr>
                    <a:xfrm>
                      <a:off x="3340" y="3870"/>
                      <a:ext cx="1019" cy="599"/>
                    </a:xfrm>
                    <a:prstGeom prst="rect">
                      <a:avLst/>
                    </a:prstGeom>
                    <a:solidFill>
                      <a:srgbClr val="7030A0"/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2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59" name="Rectangles 58"/>
                    <p:cNvSpPr/>
                    <p:nvPr/>
                  </p:nvSpPr>
                  <p:spPr>
                    <a:xfrm>
                      <a:off x="4559" y="3870"/>
                      <a:ext cx="1019" cy="599"/>
                    </a:xfrm>
                    <a:prstGeom prst="rect">
                      <a:avLst/>
                    </a:prstGeom>
                    <a:solidFill>
                      <a:srgbClr val="7030A0"/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3</a:t>
                      </a:r>
                      <a:endParaRPr lang="vi-VN" altLang="en-US" sz="1600" baseline="-25000"/>
                    </a:p>
                  </p:txBody>
                </p:sp>
                <p:sp>
                  <p:nvSpPr>
                    <p:cNvPr id="60" name="Rectangles 59"/>
                    <p:cNvSpPr/>
                    <p:nvPr/>
                  </p:nvSpPr>
                  <p:spPr>
                    <a:xfrm>
                      <a:off x="5778" y="3870"/>
                      <a:ext cx="1019" cy="599"/>
                    </a:xfrm>
                    <a:prstGeom prst="rect">
                      <a:avLst/>
                    </a:prstGeom>
                    <a:solidFill>
                      <a:srgbClr val="7030A0"/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/>
                        <a:t>...</a:t>
                      </a:r>
                      <a:endParaRPr lang="vi-VN" altLang="en-US"/>
                    </a:p>
                  </p:txBody>
                </p:sp>
                <p:sp>
                  <p:nvSpPr>
                    <p:cNvPr id="61" name="Rectangles 60"/>
                    <p:cNvSpPr/>
                    <p:nvPr/>
                  </p:nvSpPr>
                  <p:spPr>
                    <a:xfrm>
                      <a:off x="6997" y="3870"/>
                      <a:ext cx="1019" cy="599"/>
                    </a:xfrm>
                    <a:prstGeom prst="rect">
                      <a:avLst/>
                    </a:prstGeom>
                    <a:solidFill>
                      <a:srgbClr val="7030A0"/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vi-VN" altLang="en-US" sz="1600"/>
                        <a:t>D</a:t>
                      </a:r>
                      <a:r>
                        <a:rPr lang="vi-VN" altLang="en-US" sz="1600" baseline="-25000"/>
                        <a:t>k</a:t>
                      </a:r>
                      <a:endParaRPr lang="vi-VN" altLang="en-US" sz="1600" baseline="-25000"/>
                    </a:p>
                  </p:txBody>
                </p:sp>
              </p:grpSp>
              <p:sp>
                <p:nvSpPr>
                  <p:cNvPr id="62" name="Text Box 61"/>
                  <p:cNvSpPr txBox="1"/>
                  <p:nvPr/>
                </p:nvSpPr>
                <p:spPr>
                  <a:xfrm>
                    <a:off x="4359" y="5976"/>
                    <a:ext cx="1303" cy="6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vi-VN" altLang="en-US"/>
                      <a:t>...</a:t>
                    </a:r>
                    <a:endParaRPr lang="vi-VN" altLang="en-US"/>
                  </a:p>
                </p:txBody>
              </p:sp>
            </p:grpSp>
            <p:sp>
              <p:nvSpPr>
                <p:cNvPr id="63" name="Text Box 62"/>
                <p:cNvSpPr txBox="1"/>
                <p:nvPr/>
              </p:nvSpPr>
              <p:spPr>
                <a:xfrm>
                  <a:off x="259" y="3469"/>
                  <a:ext cx="2055" cy="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vi-VN" altLang="en-US" sz="1200"/>
                    <a:t>meta-batch 1</a:t>
                  </a:r>
                  <a:endParaRPr lang="vi-VN" altLang="en-US" sz="1200"/>
                </a:p>
              </p:txBody>
            </p:sp>
            <p:sp>
              <p:nvSpPr>
                <p:cNvPr id="64" name="Text Box 63"/>
                <p:cNvSpPr txBox="1"/>
                <p:nvPr/>
              </p:nvSpPr>
              <p:spPr>
                <a:xfrm>
                  <a:off x="259" y="4372"/>
                  <a:ext cx="2055" cy="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vi-VN" altLang="en-US" sz="1200"/>
                    <a:t>meta-batch </a:t>
                  </a:r>
                  <a:r>
                    <a:rPr lang="vi-VN" altLang="en-US" sz="1200"/>
                    <a:t>2</a:t>
                  </a:r>
                  <a:endParaRPr lang="vi-VN" altLang="en-US" sz="1200"/>
                </a:p>
              </p:txBody>
            </p:sp>
            <p:sp>
              <p:nvSpPr>
                <p:cNvPr id="65" name="Text Box 64"/>
                <p:cNvSpPr txBox="1"/>
                <p:nvPr/>
              </p:nvSpPr>
              <p:spPr>
                <a:xfrm>
                  <a:off x="259" y="5275"/>
                  <a:ext cx="2055" cy="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vi-VN" altLang="en-US" sz="1200"/>
                    <a:t>meta-batch </a:t>
                  </a:r>
                  <a:r>
                    <a:rPr lang="vi-VN" altLang="en-US" sz="1200"/>
                    <a:t>3</a:t>
                  </a:r>
                  <a:endParaRPr lang="vi-VN" altLang="en-US" sz="1200"/>
                </a:p>
              </p:txBody>
            </p:sp>
            <p:sp>
              <p:nvSpPr>
                <p:cNvPr id="66" name="Text Box 65"/>
                <p:cNvSpPr txBox="1"/>
                <p:nvPr/>
              </p:nvSpPr>
              <p:spPr>
                <a:xfrm>
                  <a:off x="259" y="6564"/>
                  <a:ext cx="2055" cy="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vi-VN" altLang="en-US" sz="1200"/>
                    <a:t>meta-batch </a:t>
                  </a:r>
                  <a:r>
                    <a:rPr lang="vi-VN" altLang="en-US" sz="1200"/>
                    <a:t>n</a:t>
                  </a:r>
                  <a:endParaRPr lang="vi-VN" altLang="en-US" sz="1200"/>
                </a:p>
              </p:txBody>
            </p:sp>
          </p:grpSp>
          <p:sp>
            <p:nvSpPr>
              <p:cNvPr id="67" name="Rounded Rectangle 66"/>
              <p:cNvSpPr/>
              <p:nvPr/>
            </p:nvSpPr>
            <p:spPr>
              <a:xfrm>
                <a:off x="2722" y="3468"/>
                <a:ext cx="6367" cy="837"/>
              </a:xfrm>
              <a:prstGeom prst="roundRect">
                <a:avLst/>
              </a:prstGeom>
              <a:ln w="28575">
                <a:solidFill>
                  <a:schemeClr val="accent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10647" y="3254"/>
              <a:ext cx="8161" cy="598"/>
              <a:chOff x="11027" y="2663"/>
              <a:chExt cx="5894" cy="598"/>
            </a:xfrm>
          </p:grpSpPr>
          <p:sp>
            <p:nvSpPr>
              <p:cNvPr id="69" name="Rectangles 68"/>
              <p:cNvSpPr/>
              <p:nvPr/>
            </p:nvSpPr>
            <p:spPr>
              <a:xfrm>
                <a:off x="11027" y="2663"/>
                <a:ext cx="1019" cy="599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600"/>
                  <a:t>D</a:t>
                </a:r>
                <a:r>
                  <a:rPr lang="vi-VN" altLang="en-US" sz="1600" baseline="-25000"/>
                  <a:t>1</a:t>
                </a:r>
                <a:endParaRPr lang="vi-VN" altLang="en-US" sz="1600" baseline="-25000"/>
              </a:p>
            </p:txBody>
          </p:sp>
          <p:sp>
            <p:nvSpPr>
              <p:cNvPr id="70" name="Rectangles 69"/>
              <p:cNvSpPr/>
              <p:nvPr/>
            </p:nvSpPr>
            <p:spPr>
              <a:xfrm>
                <a:off x="12246" y="2663"/>
                <a:ext cx="1019" cy="599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600"/>
                  <a:t>D</a:t>
                </a:r>
                <a:r>
                  <a:rPr lang="vi-VN" altLang="en-US" sz="1600" baseline="-25000"/>
                  <a:t>2</a:t>
                </a:r>
                <a:endParaRPr lang="vi-VN" altLang="en-US" sz="1600" baseline="-25000"/>
              </a:p>
            </p:txBody>
          </p:sp>
          <p:sp>
            <p:nvSpPr>
              <p:cNvPr id="71" name="Rectangles 70"/>
              <p:cNvSpPr/>
              <p:nvPr/>
            </p:nvSpPr>
            <p:spPr>
              <a:xfrm>
                <a:off x="13465" y="2663"/>
                <a:ext cx="1019" cy="599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600"/>
                  <a:t>D</a:t>
                </a:r>
                <a:r>
                  <a:rPr lang="vi-VN" altLang="en-US" sz="1600" baseline="-25000"/>
                  <a:t>3</a:t>
                </a:r>
                <a:endParaRPr lang="vi-VN" altLang="en-US" sz="1600" baseline="-25000"/>
              </a:p>
            </p:txBody>
          </p:sp>
          <p:sp>
            <p:nvSpPr>
              <p:cNvPr id="72" name="Rectangles 71"/>
              <p:cNvSpPr/>
              <p:nvPr/>
            </p:nvSpPr>
            <p:spPr>
              <a:xfrm>
                <a:off x="14684" y="2663"/>
                <a:ext cx="1019" cy="599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/>
                  <a:t>...</a:t>
                </a:r>
                <a:endParaRPr lang="vi-VN" altLang="en-US"/>
              </a:p>
            </p:txBody>
          </p:sp>
          <p:sp>
            <p:nvSpPr>
              <p:cNvPr id="73" name="Rectangles 72"/>
              <p:cNvSpPr/>
              <p:nvPr/>
            </p:nvSpPr>
            <p:spPr>
              <a:xfrm>
                <a:off x="15903" y="2663"/>
                <a:ext cx="1019" cy="599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600"/>
                  <a:t>D</a:t>
                </a:r>
                <a:r>
                  <a:rPr lang="vi-VN" altLang="en-US" sz="1600" baseline="-25000"/>
                  <a:t>k</a:t>
                </a:r>
                <a:endParaRPr lang="vi-VN" altLang="en-US" sz="1600" baseline="-25000"/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10646" y="6924"/>
              <a:ext cx="8163" cy="661"/>
              <a:chOff x="11831" y="5460"/>
              <a:chExt cx="5896" cy="66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5" name="Text Box 74"/>
                  <p:cNvSpPr txBox="1"/>
                  <p:nvPr/>
                </p:nvSpPr>
                <p:spPr>
                  <a:xfrm>
                    <a:off x="11831" y="5460"/>
                    <a:ext cx="920" cy="592"/>
                  </a:xfrm>
                  <a:prstGeom prst="rect">
                    <a:avLst/>
                  </a:prstGeom>
                  <a:solidFill>
                    <a:schemeClr val="bg2"/>
                  </a:solidFill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vi-VN" alt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vi-VN" altLang="en-US" sz="16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75" name="Text Box 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31" y="5460"/>
                    <a:ext cx="920" cy="592"/>
                  </a:xfrm>
                  <a:prstGeom prst="rect">
                    <a:avLst/>
                  </a:prstGeom>
                  <a:blipFill rotWithShape="1">
                    <a:blip r:embed="rId1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6" name="Text Box 75"/>
                  <p:cNvSpPr txBox="1"/>
                  <p:nvPr/>
                </p:nvSpPr>
                <p:spPr>
                  <a:xfrm>
                    <a:off x="13075" y="5460"/>
                    <a:ext cx="920" cy="592"/>
                  </a:xfrm>
                  <a:prstGeom prst="rect">
                    <a:avLst/>
                  </a:prstGeom>
                  <a:solidFill>
                    <a:schemeClr val="bg2"/>
                  </a:solidFill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vi-VN" alt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vi-VN" altLang="en-US" sz="16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76" name="Text Box 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75" y="5460"/>
                    <a:ext cx="920" cy="592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7" name="Text Box 76"/>
                  <p:cNvSpPr txBox="1"/>
                  <p:nvPr/>
                </p:nvSpPr>
                <p:spPr>
                  <a:xfrm>
                    <a:off x="14319" y="5460"/>
                    <a:ext cx="920" cy="595"/>
                  </a:xfrm>
                  <a:prstGeom prst="rect">
                    <a:avLst/>
                  </a:prstGeom>
                  <a:solidFill>
                    <a:schemeClr val="bg2"/>
                  </a:solidFill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vi-VN" alt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vi-VN" altLang="en-US" sz="16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77" name="Text Box 7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319" y="5460"/>
                    <a:ext cx="920" cy="595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8" name="Text Box 77"/>
                  <p:cNvSpPr txBox="1"/>
                  <p:nvPr/>
                </p:nvSpPr>
                <p:spPr>
                  <a:xfrm>
                    <a:off x="16807" y="5460"/>
                    <a:ext cx="920" cy="592"/>
                  </a:xfrm>
                  <a:prstGeom prst="rect">
                    <a:avLst/>
                  </a:prstGeom>
                  <a:solidFill>
                    <a:schemeClr val="bg2"/>
                  </a:solidFill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vi-VN" altLang="en-US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vi-VN" altLang="en-US" sz="16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78" name="Text Box 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07" y="5460"/>
                    <a:ext cx="920" cy="592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9" name="Text Box 78"/>
                  <p:cNvSpPr txBox="1"/>
                  <p:nvPr/>
                </p:nvSpPr>
                <p:spPr>
                  <a:xfrm>
                    <a:off x="15563" y="5460"/>
                    <a:ext cx="920" cy="6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...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>
              <p:sp>
                <p:nvSpPr>
                  <p:cNvPr id="79" name="Text Box 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563" y="5460"/>
                    <a:ext cx="920" cy="661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0" name="Group 79"/>
            <p:cNvGrpSpPr/>
            <p:nvPr/>
          </p:nvGrpSpPr>
          <p:grpSpPr>
            <a:xfrm>
              <a:off x="10648" y="5943"/>
              <a:ext cx="1410" cy="598"/>
              <a:chOff x="10848" y="5383"/>
              <a:chExt cx="1410" cy="598"/>
            </a:xfrm>
          </p:grpSpPr>
          <p:sp>
            <p:nvSpPr>
              <p:cNvPr id="81" name="Rectangles 80"/>
              <p:cNvSpPr/>
              <p:nvPr/>
            </p:nvSpPr>
            <p:spPr>
              <a:xfrm>
                <a:off x="10848" y="5383"/>
                <a:ext cx="834" cy="599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000"/>
                  <a:t>S</a:t>
                </a:r>
                <a:r>
                  <a:rPr lang="vi-VN" altLang="en-US" sz="1000" baseline="-25000"/>
                  <a:t>1</a:t>
                </a:r>
                <a:endParaRPr lang="vi-VN" altLang="en-US" sz="1000" baseline="-25000"/>
              </a:p>
            </p:txBody>
          </p:sp>
          <p:sp>
            <p:nvSpPr>
              <p:cNvPr id="82" name="Rectangles 81"/>
              <p:cNvSpPr/>
              <p:nvPr/>
            </p:nvSpPr>
            <p:spPr>
              <a:xfrm>
                <a:off x="11682" y="5383"/>
                <a:ext cx="576" cy="59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000"/>
                  <a:t>Q</a:t>
                </a:r>
                <a:r>
                  <a:rPr lang="vi-VN" altLang="en-US" sz="1000" baseline="-25000"/>
                  <a:t>1</a:t>
                </a:r>
                <a:endParaRPr lang="vi-VN" altLang="en-US" sz="1000" baseline="-250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 Box 82"/>
                <p:cNvSpPr txBox="1"/>
                <p:nvPr/>
              </p:nvSpPr>
              <p:spPr>
                <a:xfrm>
                  <a:off x="9896" y="5635"/>
                  <a:ext cx="920" cy="6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vi-VN" alt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vi-VN" altLang="en-US" sz="16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83" name="Text 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6" y="5635"/>
                  <a:ext cx="920" cy="606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Arrow Connector 83"/>
            <p:cNvCxnSpPr/>
            <p:nvPr/>
          </p:nvCxnSpPr>
          <p:spPr>
            <a:xfrm>
              <a:off x="9154" y="3057"/>
              <a:ext cx="0" cy="4296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85" name="Group 84"/>
            <p:cNvGrpSpPr/>
            <p:nvPr/>
          </p:nvGrpSpPr>
          <p:grpSpPr>
            <a:xfrm>
              <a:off x="12336" y="5943"/>
              <a:ext cx="1410" cy="598"/>
              <a:chOff x="10848" y="5383"/>
              <a:chExt cx="1410" cy="598"/>
            </a:xfrm>
          </p:grpSpPr>
          <p:sp>
            <p:nvSpPr>
              <p:cNvPr id="86" name="Rectangles 85"/>
              <p:cNvSpPr/>
              <p:nvPr/>
            </p:nvSpPr>
            <p:spPr>
              <a:xfrm>
                <a:off x="10848" y="5383"/>
                <a:ext cx="834" cy="599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000"/>
                  <a:t>S</a:t>
                </a:r>
                <a:r>
                  <a:rPr lang="vi-VN" altLang="en-US" sz="1000" baseline="-25000"/>
                  <a:t>2</a:t>
                </a:r>
                <a:endParaRPr lang="vi-VN" altLang="en-US" sz="1000" baseline="-25000"/>
              </a:p>
            </p:txBody>
          </p:sp>
          <p:sp>
            <p:nvSpPr>
              <p:cNvPr id="87" name="Rectangles 86"/>
              <p:cNvSpPr/>
              <p:nvPr/>
            </p:nvSpPr>
            <p:spPr>
              <a:xfrm>
                <a:off x="11682" y="5383"/>
                <a:ext cx="576" cy="59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000"/>
                  <a:t>Q</a:t>
                </a:r>
                <a:r>
                  <a:rPr lang="vi-VN" altLang="en-US" sz="1000" baseline="-25000"/>
                  <a:t>2</a:t>
                </a:r>
                <a:endParaRPr lang="vi-VN" altLang="en-US" sz="1000" baseline="-25000"/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14024" y="5943"/>
              <a:ext cx="1410" cy="598"/>
              <a:chOff x="10848" y="5383"/>
              <a:chExt cx="1410" cy="598"/>
            </a:xfrm>
          </p:grpSpPr>
          <p:sp>
            <p:nvSpPr>
              <p:cNvPr id="89" name="Rectangles 88"/>
              <p:cNvSpPr/>
              <p:nvPr/>
            </p:nvSpPr>
            <p:spPr>
              <a:xfrm>
                <a:off x="10848" y="5383"/>
                <a:ext cx="834" cy="599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000"/>
                  <a:t>S</a:t>
                </a:r>
                <a:r>
                  <a:rPr lang="vi-VN" altLang="en-US" sz="1000" baseline="-25000"/>
                  <a:t>3</a:t>
                </a:r>
                <a:endParaRPr lang="vi-VN" altLang="en-US" sz="1000" baseline="-25000"/>
              </a:p>
            </p:txBody>
          </p:sp>
          <p:sp>
            <p:nvSpPr>
              <p:cNvPr id="90" name="Rectangles 89"/>
              <p:cNvSpPr/>
              <p:nvPr/>
            </p:nvSpPr>
            <p:spPr>
              <a:xfrm>
                <a:off x="11682" y="5383"/>
                <a:ext cx="576" cy="59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000"/>
                  <a:t>Q</a:t>
                </a:r>
                <a:r>
                  <a:rPr lang="vi-VN" altLang="en-US" sz="1000" baseline="-25000"/>
                  <a:t>3</a:t>
                </a:r>
                <a:endParaRPr lang="vi-VN" altLang="en-US" sz="1000" baseline="-25000"/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17399" y="5943"/>
              <a:ext cx="1410" cy="598"/>
              <a:chOff x="10848" y="5383"/>
              <a:chExt cx="1410" cy="598"/>
            </a:xfrm>
          </p:grpSpPr>
          <p:sp>
            <p:nvSpPr>
              <p:cNvPr id="92" name="Rectangles 91"/>
              <p:cNvSpPr/>
              <p:nvPr/>
            </p:nvSpPr>
            <p:spPr>
              <a:xfrm>
                <a:off x="10848" y="5383"/>
                <a:ext cx="834" cy="599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000"/>
                  <a:t>S</a:t>
                </a:r>
                <a:r>
                  <a:rPr lang="vi-VN" altLang="en-US" sz="1000" baseline="-25000"/>
                  <a:t>k</a:t>
                </a:r>
                <a:endParaRPr lang="vi-VN" altLang="en-US" sz="1000" baseline="-25000"/>
              </a:p>
            </p:txBody>
          </p:sp>
          <p:sp>
            <p:nvSpPr>
              <p:cNvPr id="93" name="Rectangles 92"/>
              <p:cNvSpPr/>
              <p:nvPr/>
            </p:nvSpPr>
            <p:spPr>
              <a:xfrm>
                <a:off x="11682" y="5383"/>
                <a:ext cx="576" cy="59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000"/>
                  <a:t>Q</a:t>
                </a:r>
                <a:r>
                  <a:rPr lang="vi-VN" altLang="en-US" sz="1000" baseline="-25000"/>
                  <a:t>k</a:t>
                </a:r>
                <a:endParaRPr lang="vi-VN" altLang="en-US" sz="1000" baseline="-25000"/>
              </a:p>
            </p:txBody>
          </p:sp>
        </p:grpSp>
        <p:cxnSp>
          <p:nvCxnSpPr>
            <p:cNvPr id="94" name="Curved Connector 93"/>
            <p:cNvCxnSpPr>
              <a:stCxn id="83" idx="0"/>
            </p:cNvCxnSpPr>
            <p:nvPr/>
          </p:nvCxnSpPr>
          <p:spPr>
            <a:xfrm rot="16200000" flipH="1">
              <a:off x="10557" y="5434"/>
              <a:ext cx="308" cy="709"/>
            </a:xfrm>
            <a:prstGeom prst="curvedConnector3">
              <a:avLst>
                <a:gd name="adj1" fmla="val -38636"/>
              </a:avLst>
            </a:prstGeom>
            <a:ln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5" name="Curved Connector 94"/>
            <p:cNvCxnSpPr/>
            <p:nvPr/>
          </p:nvCxnSpPr>
          <p:spPr>
            <a:xfrm rot="5400000">
              <a:off x="10519" y="6668"/>
              <a:ext cx="672" cy="419"/>
            </a:xfrm>
            <a:prstGeom prst="curvedConnector4">
              <a:avLst>
                <a:gd name="adj1" fmla="val 28348"/>
                <a:gd name="adj2" fmla="val 189618"/>
              </a:avLst>
            </a:prstGeom>
            <a:ln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6" name="Rectangles 95"/>
            <p:cNvSpPr/>
            <p:nvPr/>
          </p:nvSpPr>
          <p:spPr>
            <a:xfrm>
              <a:off x="15711" y="5943"/>
              <a:ext cx="1411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>
                  <a:solidFill>
                    <a:schemeClr val="tx1"/>
                  </a:solidFill>
                </a:rPr>
                <a:t>...</a:t>
              </a:r>
              <a:endParaRPr lang="vi-VN" altLang="en-US">
                <a:solidFill>
                  <a:schemeClr val="tx1"/>
                </a:solidFill>
              </a:endParaRPr>
            </a:p>
          </p:txBody>
        </p:sp>
        <p:cxnSp>
          <p:nvCxnSpPr>
            <p:cNvPr id="97" name="Curved Connector 96"/>
            <p:cNvCxnSpPr/>
            <p:nvPr/>
          </p:nvCxnSpPr>
          <p:spPr>
            <a:xfrm rot="16200000">
              <a:off x="11335" y="6490"/>
              <a:ext cx="382" cy="487"/>
            </a:xfrm>
            <a:prstGeom prst="curvedConnector3">
              <a:avLst>
                <a:gd name="adj1" fmla="val 50131"/>
              </a:avLst>
            </a:prstGeom>
            <a:ln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Text Box 97"/>
                <p:cNvSpPr txBox="1"/>
                <p:nvPr/>
              </p:nvSpPr>
              <p:spPr>
                <a:xfrm>
                  <a:off x="8976" y="4756"/>
                  <a:ext cx="920" cy="6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𝜃</m:t>
                        </m:r>
                      </m:oMath>
                    </m:oMathPara>
                  </a14:m>
                  <a:endParaRPr lang="en-US" sz="16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98" name="Text 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6" y="4756"/>
                  <a:ext cx="920" cy="605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 Box 98"/>
                <p:cNvSpPr txBox="1"/>
                <p:nvPr/>
              </p:nvSpPr>
              <p:spPr>
                <a:xfrm>
                  <a:off x="11322" y="4963"/>
                  <a:ext cx="736" cy="605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ℒ</m:t>
                            </m:r>
                          </m:e>
                          <m:sub>
                            <m:r>
                              <a:rPr lang="vi-VN" alt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vi-VN" altLang="en-US" sz="16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99" name="Text 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" y="4963"/>
                  <a:ext cx="736" cy="605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Curved Connector 99"/>
            <p:cNvCxnSpPr>
              <a:endCxn id="99" idx="2"/>
            </p:cNvCxnSpPr>
            <p:nvPr/>
          </p:nvCxnSpPr>
          <p:spPr>
            <a:xfrm rot="16200000" flipV="1">
              <a:off x="11530" y="5728"/>
              <a:ext cx="400" cy="8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Text Box 100"/>
                <p:cNvSpPr txBox="1"/>
                <p:nvPr/>
              </p:nvSpPr>
              <p:spPr>
                <a:xfrm>
                  <a:off x="13010" y="4963"/>
                  <a:ext cx="740" cy="605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ℒ</m:t>
                            </m:r>
                          </m:e>
                          <m:sub>
                            <m:r>
                              <a:rPr lang="vi-VN" altLang="en-US" sz="1600" i="1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vi-VN" altLang="en-US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01" name="Text 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10" y="4963"/>
                  <a:ext cx="740" cy="605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Text Box 101"/>
                <p:cNvSpPr txBox="1"/>
                <p:nvPr/>
              </p:nvSpPr>
              <p:spPr>
                <a:xfrm>
                  <a:off x="14694" y="4963"/>
                  <a:ext cx="686" cy="606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ℒ</m:t>
                            </m:r>
                          </m:e>
                          <m:sub>
                            <m:r>
                              <a:rPr lang="vi-VN" alt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vi-VN" altLang="en-US" sz="16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02" name="Text 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94" y="4963"/>
                  <a:ext cx="686" cy="606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Text Box 102"/>
                <p:cNvSpPr txBox="1"/>
                <p:nvPr/>
              </p:nvSpPr>
              <p:spPr>
                <a:xfrm>
                  <a:off x="18123" y="4963"/>
                  <a:ext cx="689" cy="605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ℒ</m:t>
                            </m:r>
                          </m:e>
                          <m:sub>
                            <m:r>
                              <a:rPr lang="vi-VN" altLang="en-US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vi-VN" altLang="en-US" sz="16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03" name="Text Box 1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23" y="4963"/>
                  <a:ext cx="689" cy="605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Text Box 103"/>
                <p:cNvSpPr txBox="1"/>
                <p:nvPr/>
              </p:nvSpPr>
              <p:spPr>
                <a:xfrm>
                  <a:off x="10126" y="4060"/>
                  <a:ext cx="939" cy="692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ℒ</m:t>
                                </m:r>
                              </m:e>
                              <m:sub>
                                <m:r>
                                  <a:rPr lang="vi-VN" altLang="en-US" sz="14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vi-VN" altLang="en-US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04" name="Text Box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6" y="4060"/>
                  <a:ext cx="939" cy="692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Curved Connector 104"/>
            <p:cNvCxnSpPr>
              <a:stCxn id="99" idx="0"/>
              <a:endCxn id="104" idx="3"/>
            </p:cNvCxnSpPr>
            <p:nvPr/>
          </p:nvCxnSpPr>
          <p:spPr>
            <a:xfrm rot="16200000" flipV="1">
              <a:off x="11099" y="4373"/>
              <a:ext cx="556" cy="625"/>
            </a:xfrm>
            <a:prstGeom prst="curved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" name="Curved Connector 105"/>
            <p:cNvCxnSpPr>
              <a:stCxn id="101" idx="0"/>
              <a:endCxn id="104" idx="3"/>
            </p:cNvCxnSpPr>
            <p:nvPr/>
          </p:nvCxnSpPr>
          <p:spPr>
            <a:xfrm rot="16200000" flipV="1">
              <a:off x="11944" y="3528"/>
              <a:ext cx="556" cy="2315"/>
            </a:xfrm>
            <a:prstGeom prst="curved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7" name="Curved Connector 106"/>
            <p:cNvCxnSpPr>
              <a:stCxn id="102" idx="0"/>
              <a:endCxn id="104" idx="3"/>
            </p:cNvCxnSpPr>
            <p:nvPr/>
          </p:nvCxnSpPr>
          <p:spPr>
            <a:xfrm rot="16200000" flipV="1">
              <a:off x="12773" y="2699"/>
              <a:ext cx="556" cy="3972"/>
            </a:xfrm>
            <a:prstGeom prst="curved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8" name="Curved Connector 107"/>
            <p:cNvCxnSpPr>
              <a:stCxn id="103" idx="0"/>
              <a:endCxn id="104" idx="3"/>
            </p:cNvCxnSpPr>
            <p:nvPr/>
          </p:nvCxnSpPr>
          <p:spPr>
            <a:xfrm rot="16200000" flipV="1">
              <a:off x="14488" y="984"/>
              <a:ext cx="556" cy="7402"/>
            </a:xfrm>
            <a:prstGeom prst="curved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9" name="Curved Connector 108"/>
            <p:cNvCxnSpPr>
              <a:stCxn id="104" idx="1"/>
              <a:endCxn id="98" idx="0"/>
            </p:cNvCxnSpPr>
            <p:nvPr/>
          </p:nvCxnSpPr>
          <p:spPr>
            <a:xfrm rot="10800000" flipV="1">
              <a:off x="9436" y="4407"/>
              <a:ext cx="690" cy="349"/>
            </a:xfrm>
            <a:prstGeom prst="curvedConnector2">
              <a:avLst/>
            </a:prstGeom>
            <a:ln w="28575" cmpd="sng">
              <a:solidFill>
                <a:srgbClr val="7030A0"/>
              </a:solidFill>
              <a:prstDash val="sysDash"/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0" name="Text Box 109"/>
            <p:cNvSpPr txBox="1"/>
            <p:nvPr/>
          </p:nvSpPr>
          <p:spPr>
            <a:xfrm>
              <a:off x="13379" y="2503"/>
              <a:ext cx="2055" cy="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vi-VN" altLang="en-US" sz="1200"/>
                <a:t>meta-batch 1</a:t>
              </a:r>
              <a:endParaRPr lang="vi-VN" altLang="en-US" sz="1200"/>
            </a:p>
          </p:txBody>
        </p:sp>
      </p:grpSp>
      <p:sp>
        <p:nvSpPr>
          <p:cNvPr id="111" name="Text Box 110"/>
          <p:cNvSpPr txBox="1"/>
          <p:nvPr/>
        </p:nvSpPr>
        <p:spPr>
          <a:xfrm>
            <a:off x="3166745" y="5234940"/>
            <a:ext cx="561213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vi-VN" altLang="en-US" sz="800"/>
              <a:t>Hình </a:t>
            </a:r>
            <a:r>
              <a:rPr lang="en-US" altLang="vi-VN" sz="800"/>
              <a:t>3</a:t>
            </a:r>
            <a:r>
              <a:rPr lang="vi-VN" altLang="en-US" sz="800"/>
              <a:t>: Sơ đồ tổng quát </a:t>
            </a:r>
            <a:r>
              <a:rPr lang="en-US" sz="800"/>
              <a:t>giai đoạn meta-training (MAML-based)</a:t>
            </a:r>
            <a:endParaRPr lang="en-US" sz="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25"/>
              <p:cNvSpPr txBox="1"/>
              <p:nvPr/>
            </p:nvSpPr>
            <p:spPr>
              <a:xfrm>
                <a:off x="7811707" y="4658614"/>
                <a:ext cx="3143250" cy="3746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∅</m:t>
                          </m:r>
                        </m:e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</m:sub>
                      </m:sSub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∅</m:t>
                          </m:r>
                        </m:e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𝛼</m:t>
                      </m:r>
                      <m:sSub>
                        <m:sSub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𝛻</m:t>
                          </m:r>
                        </m:e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∅</m:t>
                          </m:r>
                        </m:sub>
                      </m:sSub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ℒ</m:t>
                      </m:r>
                      <m:d>
                        <m:d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𝑗</m:t>
                              </m:r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6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707" y="4658614"/>
                <a:ext cx="3143250" cy="374650"/>
              </a:xfrm>
              <a:prstGeom prst="rect">
                <a:avLst/>
              </a:prstGeom>
              <a:blipFill rotWithShape="1">
                <a:blip r:embed="rId13"/>
                <a:stretch>
                  <a:fillRect l="-18" t="-68" r="18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"/>
              <p:cNvSpPr txBox="1"/>
              <p:nvPr/>
            </p:nvSpPr>
            <p:spPr>
              <a:xfrm>
                <a:off x="2354517" y="4549076"/>
                <a:ext cx="3187700" cy="5683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𝜃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𝛽</m:t>
                      </m:r>
                      <m:sSub>
                        <m:sSub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𝛻</m:t>
                          </m:r>
                        </m:e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∅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𝑗</m:t>
                                  </m:r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−</m:t>
                                  </m:r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6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517" y="4549076"/>
                <a:ext cx="3187700" cy="568325"/>
              </a:xfrm>
              <a:prstGeom prst="rect">
                <a:avLst/>
              </a:prstGeom>
              <a:blipFill rotWithShape="1">
                <a:blip r:embed="rId14"/>
                <a:stretch>
                  <a:fillRect l="-18" t="-100" r="18" b="10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31" name="Text Box 30"/>
          <p:cNvSpPr txBox="1"/>
          <p:nvPr/>
        </p:nvSpPr>
        <p:spPr>
          <a:xfrm>
            <a:off x="647700" y="1216025"/>
            <a:ext cx="76631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 u="sng"/>
              <a:t>Meta-Training</a:t>
            </a:r>
            <a:endParaRPr lang="en-US" sz="1600" b="1" u="sng"/>
          </a:p>
        </p:txBody>
      </p:sp>
      <p:sp>
        <p:nvSpPr>
          <p:cNvPr id="8" name="Text Box 7"/>
          <p:cNvSpPr txBox="1"/>
          <p:nvPr/>
        </p:nvSpPr>
        <p:spPr>
          <a:xfrm>
            <a:off x="976630" y="4590415"/>
            <a:ext cx="2169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 u="sng"/>
              <a:t>outer loop:</a:t>
            </a:r>
            <a:endParaRPr lang="en-US" sz="1400" u="sng"/>
          </a:p>
        </p:txBody>
      </p:sp>
      <p:sp>
        <p:nvSpPr>
          <p:cNvPr id="9" name="Text Box 8"/>
          <p:cNvSpPr txBox="1"/>
          <p:nvPr/>
        </p:nvSpPr>
        <p:spPr>
          <a:xfrm>
            <a:off x="6733540" y="4674870"/>
            <a:ext cx="15754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 u="sng"/>
              <a:t>inner loop:</a:t>
            </a:r>
            <a:endParaRPr lang="en-US" sz="1400" u="sn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2. Phát biểu bài toán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7887335" y="3092658"/>
            <a:ext cx="3006038" cy="2396738"/>
            <a:chOff x="9896" y="5162"/>
            <a:chExt cx="2242" cy="207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 Box 6"/>
                <p:cNvSpPr txBox="1"/>
                <p:nvPr/>
              </p:nvSpPr>
              <p:spPr>
                <a:xfrm>
                  <a:off x="9896" y="5635"/>
                  <a:ext cx="920" cy="3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vi-VN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7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6" y="5635"/>
                  <a:ext cx="920" cy="319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urved Connector 7"/>
            <p:cNvCxnSpPr>
              <a:stCxn id="7" idx="0"/>
            </p:cNvCxnSpPr>
            <p:nvPr/>
          </p:nvCxnSpPr>
          <p:spPr>
            <a:xfrm rot="16200000" flipH="1">
              <a:off x="10557" y="5435"/>
              <a:ext cx="308" cy="709"/>
            </a:xfrm>
            <a:prstGeom prst="curvedConnector3">
              <a:avLst>
                <a:gd name="adj1" fmla="val -38636"/>
              </a:avLst>
            </a:prstGeom>
            <a:ln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Curved Connector 8"/>
            <p:cNvCxnSpPr>
              <a:endCxn id="21" idx="1"/>
            </p:cNvCxnSpPr>
            <p:nvPr/>
          </p:nvCxnSpPr>
          <p:spPr>
            <a:xfrm rot="5400000">
              <a:off x="10586" y="6601"/>
              <a:ext cx="538" cy="418"/>
            </a:xfrm>
            <a:prstGeom prst="curvedConnector4">
              <a:avLst>
                <a:gd name="adj1" fmla="val 35615"/>
                <a:gd name="adj2" fmla="val 142469"/>
              </a:avLst>
            </a:prstGeom>
            <a:ln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Curved Connector 10"/>
            <p:cNvCxnSpPr>
              <a:stCxn id="21" idx="0"/>
              <a:endCxn id="17" idx="2"/>
            </p:cNvCxnSpPr>
            <p:nvPr/>
          </p:nvCxnSpPr>
          <p:spPr>
            <a:xfrm rot="16200000">
              <a:off x="11336" y="6489"/>
              <a:ext cx="382" cy="487"/>
            </a:xfrm>
            <a:prstGeom prst="curvedConnector3">
              <a:avLst>
                <a:gd name="adj1" fmla="val 50047"/>
              </a:avLst>
            </a:prstGeom>
            <a:ln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 Box 11"/>
                <p:cNvSpPr txBox="1"/>
                <p:nvPr/>
              </p:nvSpPr>
              <p:spPr>
                <a:xfrm>
                  <a:off x="11402" y="5162"/>
                  <a:ext cx="736" cy="319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ℒ</m:t>
                            </m:r>
                          </m:e>
                          <m:sub>
                            <m:r>
                              <a:rPr lang="vi-VN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1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02" y="5162"/>
                  <a:ext cx="736" cy="31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/>
            <p:cNvGrpSpPr/>
            <p:nvPr/>
          </p:nvGrpSpPr>
          <p:grpSpPr>
            <a:xfrm>
              <a:off x="10648" y="5943"/>
              <a:ext cx="1410" cy="598"/>
              <a:chOff x="10848" y="5383"/>
              <a:chExt cx="1410" cy="598"/>
            </a:xfrm>
          </p:grpSpPr>
          <p:sp>
            <p:nvSpPr>
              <p:cNvPr id="14" name="Rectangles 13"/>
              <p:cNvSpPr/>
              <p:nvPr/>
            </p:nvSpPr>
            <p:spPr>
              <a:xfrm>
                <a:off x="10848" y="5383"/>
                <a:ext cx="834" cy="599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600"/>
                  <a:t>S</a:t>
                </a:r>
                <a:r>
                  <a:rPr lang="vi-VN" altLang="en-US" sz="1600" baseline="-25000"/>
                  <a:t>1</a:t>
                </a:r>
                <a:endParaRPr lang="vi-VN" altLang="en-US" sz="1600" baseline="-25000"/>
              </a:p>
            </p:txBody>
          </p:sp>
          <p:sp>
            <p:nvSpPr>
              <p:cNvPr id="17" name="Rectangles 16"/>
              <p:cNvSpPr/>
              <p:nvPr/>
            </p:nvSpPr>
            <p:spPr>
              <a:xfrm>
                <a:off x="11682" y="5383"/>
                <a:ext cx="576" cy="59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vi-VN" altLang="en-US" sz="1600"/>
                  <a:t>Q</a:t>
                </a:r>
                <a:r>
                  <a:rPr lang="vi-VN" altLang="en-US" sz="1600" baseline="-25000"/>
                  <a:t>1</a:t>
                </a:r>
                <a:endParaRPr lang="vi-VN" altLang="en-US" sz="1600" baseline="-250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 Box 20"/>
                <p:cNvSpPr txBox="1"/>
                <p:nvPr/>
              </p:nvSpPr>
              <p:spPr>
                <a:xfrm>
                  <a:off x="10646" y="6924"/>
                  <a:ext cx="1274" cy="311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∅</m:t>
                            </m:r>
                          </m:e>
                          <m:sub>
                            <m:r>
                              <a:rPr lang="vi-VN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21" name="Text 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46" y="6924"/>
                  <a:ext cx="1274" cy="311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urved Connector 21"/>
            <p:cNvCxnSpPr>
              <a:stCxn id="17" idx="0"/>
              <a:endCxn id="12" idx="2"/>
            </p:cNvCxnSpPr>
            <p:nvPr/>
          </p:nvCxnSpPr>
          <p:spPr>
            <a:xfrm rot="16200000">
              <a:off x="11539" y="5712"/>
              <a:ext cx="462" cy="2"/>
            </a:xfrm>
            <a:prstGeom prst="curvedConnector2">
              <a:avLst/>
            </a:prstGeom>
            <a:ln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5" name="Rectangles 24"/>
          <p:cNvSpPr/>
          <p:nvPr/>
        </p:nvSpPr>
        <p:spPr>
          <a:xfrm>
            <a:off x="3208655" y="4086225"/>
            <a:ext cx="3401695" cy="791845"/>
          </a:xfrm>
          <a:prstGeom prst="rect">
            <a:avLst/>
          </a:prstGeom>
          <a:solidFill>
            <a:schemeClr val="bg2"/>
          </a:solidFill>
          <a:ln w="28575" cmpd="sng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25"/>
              <p:cNvSpPr txBox="1"/>
              <p:nvPr/>
            </p:nvSpPr>
            <p:spPr>
              <a:xfrm>
                <a:off x="3276537" y="4277296"/>
                <a:ext cx="3333750" cy="4102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∅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∅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𝛻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∅</m:t>
                          </m:r>
                        </m:sub>
                      </m:sSub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6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537" y="4277296"/>
                <a:ext cx="3333750" cy="410210"/>
              </a:xfrm>
              <a:prstGeom prst="rect">
                <a:avLst/>
              </a:prstGeom>
              <a:blipFill rotWithShape="1">
                <a:blip r:embed="rId4"/>
                <a:stretch>
                  <a:fillRect l="-17" t="-139" r="17" b="1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/>
          <p:cNvSpPr txBox="1"/>
          <p:nvPr/>
        </p:nvSpPr>
        <p:spPr>
          <a:xfrm>
            <a:off x="1442085" y="4277360"/>
            <a:ext cx="127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inner-loop</a:t>
            </a: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17"/>
              <p:cNvSpPr txBox="1"/>
              <p:nvPr/>
            </p:nvSpPr>
            <p:spPr>
              <a:xfrm>
                <a:off x="859155" y="1837690"/>
                <a:ext cx="8734425" cy="10763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1600"/>
                  <a:t>- Quá trình thích ứng nhanh được định hướng bởi tập hỗ trợ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S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>
                    <a:sym typeface="+mn-ea"/>
                  </a:rPr>
                  <a:t>. Do đó, để giải thích hiện tượng negative transfer, chúng ta cần diễn giải cơ chế thích ứng nhanh thông qua:</a:t>
                </a:r>
                <a:endParaRPr lang="en-US" sz="1600">
                  <a:sym typeface="+mn-ea"/>
                </a:endParaRPr>
              </a:p>
              <a:p>
                <a:r>
                  <a:rPr lang="en-US" sz="1600">
                    <a:sym typeface="+mn-ea"/>
                  </a:rPr>
                  <a:t>     </a:t>
                </a:r>
                <a:r>
                  <a:rPr lang="en-US" sz="1600" b="1">
                    <a:sym typeface="+mn-ea"/>
                  </a:rPr>
                  <a:t>+</a:t>
                </a:r>
                <a:r>
                  <a:rPr lang="en-US" sz="1600">
                    <a:sym typeface="+mn-ea"/>
                  </a:rPr>
                  <a:t> </a:t>
                </a:r>
                <a:r>
                  <a:rPr lang="en-US" sz="1600" b="1">
                    <a:sym typeface="+mn-ea"/>
                  </a:rPr>
                  <a:t>Định lượng</a:t>
                </a:r>
                <a:r>
                  <a:rPr lang="en-US" sz="1600">
                    <a:sym typeface="+mn-ea"/>
                  </a:rPr>
                  <a:t> được sự định hướng đó mang lại giá trị tích cực hay tiêu cực.</a:t>
                </a:r>
                <a:endParaRPr lang="en-US" sz="1600">
                  <a:sym typeface="+mn-ea"/>
                </a:endParaRPr>
              </a:p>
              <a:p>
                <a:r>
                  <a:rPr lang="en-US" sz="1600">
                    <a:sym typeface="+mn-ea"/>
                  </a:rPr>
                  <a:t>     </a:t>
                </a:r>
                <a:r>
                  <a:rPr lang="en-US" sz="1600" b="1">
                    <a:sym typeface="+mn-ea"/>
                  </a:rPr>
                  <a:t>+</a:t>
                </a:r>
                <a:r>
                  <a:rPr lang="en-US" sz="1600">
                    <a:sym typeface="+mn-ea"/>
                  </a:rPr>
                  <a:t> </a:t>
                </a:r>
                <a:r>
                  <a:rPr lang="en-US" sz="1600" b="1">
                    <a:sym typeface="+mn-ea"/>
                  </a:rPr>
                  <a:t>Định vị </a:t>
                </a:r>
                <a:r>
                  <a:rPr lang="en-US" sz="1600">
                    <a:sym typeface="+mn-ea"/>
                  </a:rPr>
                  <a:t>các biểu diễn đặc trưng trong tập hỗ trợ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>
                    <a:sym typeface="+mn-ea"/>
                  </a:rPr>
                  <a:t> gây ra hiện tượng đó.</a:t>
                </a:r>
                <a:endParaRPr lang="en-US" sz="1600">
                  <a:sym typeface="+mn-ea"/>
                </a:endParaRPr>
              </a:p>
            </p:txBody>
          </p:sp>
        </mc:Choice>
        <mc:Fallback>
          <p:sp>
            <p:nvSpPr>
              <p:cNvPr id="18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55" y="1837690"/>
                <a:ext cx="8734425" cy="107632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18"/>
          <p:cNvSpPr txBox="1"/>
          <p:nvPr/>
        </p:nvSpPr>
        <p:spPr>
          <a:xfrm>
            <a:off x="829945" y="1426845"/>
            <a:ext cx="76631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 u="sng"/>
              <a:t>Quá trình thích ứng nhanh - Fast Adaptation</a:t>
            </a:r>
            <a:endParaRPr lang="en-US" sz="1600" b="1" u="sn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860" y="268605"/>
            <a:ext cx="10515600" cy="1325563"/>
          </a:xfrm>
        </p:spPr>
        <p:txBody>
          <a:bodyPr/>
          <a:p>
            <a:r>
              <a:rPr lang="en-US">
                <a:sym typeface="+mn-ea"/>
              </a:rPr>
              <a:t>2. Phát biểu bài toán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962910" y="2115976"/>
            <a:ext cx="6266779" cy="2311517"/>
            <a:chOff x="5289" y="4048"/>
            <a:chExt cx="9869" cy="3640"/>
          </a:xfrm>
        </p:grpSpPr>
        <p:grpSp>
          <p:nvGrpSpPr>
            <p:cNvPr id="10" name="Group 9"/>
            <p:cNvGrpSpPr/>
            <p:nvPr/>
          </p:nvGrpSpPr>
          <p:grpSpPr>
            <a:xfrm>
              <a:off x="5289" y="4131"/>
              <a:ext cx="9869" cy="2340"/>
              <a:chOff x="2133" y="5369"/>
              <a:chExt cx="16156" cy="383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133" y="6504"/>
                <a:ext cx="5569" cy="185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Freeform 4"/>
              <p:cNvSpPr/>
              <p:nvPr/>
            </p:nvSpPr>
            <p:spPr>
              <a:xfrm>
                <a:off x="10484" y="6504"/>
                <a:ext cx="4787" cy="1856"/>
              </a:xfrm>
              <a:custGeom>
                <a:avLst/>
                <a:gdLst>
                  <a:gd name="idx" fmla="cos wd2 2700000"/>
                  <a:gd name="idy" fmla="sin hd2 2700000"/>
                  <a:gd name="il" fmla="+- hc 0 idx"/>
                  <a:gd name="ir" fmla="+- hc idx 0"/>
                  <a:gd name="it" fmla="+- vc 0 idy"/>
                  <a:gd name="ib" fmla="+- vc idy 0"/>
                </a:gdLst>
                <a:ahLst/>
                <a:cxnLst>
                  <a:cxn ang="3">
                    <a:pos x="hc" y="t"/>
                  </a:cxn>
                  <a:cxn ang="3">
                    <a:pos x="il" y="it"/>
                  </a:cxn>
                  <a:cxn ang="cd2">
                    <a:pos x="l" y="vc"/>
                  </a:cxn>
                  <a:cxn ang="cd4">
                    <a:pos x="il" y="ib"/>
                  </a:cxn>
                  <a:cxn ang="cd4">
                    <a:pos x="hc" y="b"/>
                  </a:cxn>
                  <a:cxn ang="cd4">
                    <a:pos x="ir" y="ib"/>
                  </a:cxn>
                  <a:cxn ang="0">
                    <a:pos x="r" y="vc"/>
                  </a:cxn>
                  <a:cxn ang="3">
                    <a:pos x="ir" y="it"/>
                  </a:cxn>
                </a:cxnLst>
                <a:rect l="l" t="t" r="r" b="b"/>
                <a:pathLst>
                  <a:path w="4788" h="1859">
                    <a:moveTo>
                      <a:pt x="0" y="928"/>
                    </a:moveTo>
                    <a:cubicBezTo>
                      <a:pt x="-48" y="407"/>
                      <a:pt x="1383" y="-13"/>
                      <a:pt x="2785" y="0"/>
                    </a:cubicBezTo>
                    <a:cubicBezTo>
                      <a:pt x="3562" y="-19"/>
                      <a:pt x="4467" y="160"/>
                      <a:pt x="4785" y="283"/>
                    </a:cubicBezTo>
                    <a:cubicBezTo>
                      <a:pt x="4475" y="371"/>
                      <a:pt x="4194" y="678"/>
                      <a:pt x="4217" y="928"/>
                    </a:cubicBezTo>
                    <a:cubicBezTo>
                      <a:pt x="4191" y="1214"/>
                      <a:pt x="4520" y="1493"/>
                      <a:pt x="4787" y="1573"/>
                    </a:cubicBezTo>
                    <a:cubicBezTo>
                      <a:pt x="4396" y="1730"/>
                      <a:pt x="3427" y="1871"/>
                      <a:pt x="2785" y="1856"/>
                    </a:cubicBezTo>
                    <a:cubicBezTo>
                      <a:pt x="1222" y="1872"/>
                      <a:pt x="-38" y="1395"/>
                      <a:pt x="0" y="928"/>
                    </a:cubicBezTo>
                    <a:close/>
                  </a:path>
                </a:pathLst>
              </a:custGeom>
              <a:pattFill prst="wdDnDiag">
                <a:fgClr>
                  <a:schemeClr val="tx1">
                    <a:lumMod val="50000"/>
                    <a:lumOff val="50000"/>
                  </a:schemeClr>
                </a:fgClr>
                <a:bgClr>
                  <a:srgbClr val="FFFFFF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en-US"/>
              </a:p>
            </p:txBody>
          </p:sp>
          <p:sp>
            <p:nvSpPr>
              <p:cNvPr id="21" name="Freeform 20"/>
              <p:cNvSpPr/>
              <p:nvPr/>
            </p:nvSpPr>
            <p:spPr>
              <a:xfrm>
                <a:off x="15269" y="6715"/>
                <a:ext cx="996" cy="1433"/>
              </a:xfrm>
              <a:custGeom>
                <a:avLst/>
                <a:gdLst>
                  <a:gd name="idx" fmla="cos wd2 2700000"/>
                  <a:gd name="idy" fmla="sin hd2 2700000"/>
                  <a:gd name="il" fmla="+- hc 0 idx"/>
                  <a:gd name="ir" fmla="+- hc idx 0"/>
                  <a:gd name="it" fmla="+- vc 0 idy"/>
                  <a:gd name="ib" fmla="+- vc idy 0"/>
                </a:gdLst>
                <a:ahLst/>
                <a:cxnLst>
                  <a:cxn ang="3">
                    <a:pos x="hc" y="t"/>
                  </a:cxn>
                  <a:cxn ang="3">
                    <a:pos x="il" y="it"/>
                  </a:cxn>
                  <a:cxn ang="cd2">
                    <a:pos x="l" y="vc"/>
                  </a:cxn>
                  <a:cxn ang="cd4">
                    <a:pos x="il" y="ib"/>
                  </a:cxn>
                  <a:cxn ang="cd4">
                    <a:pos x="hc" y="b"/>
                  </a:cxn>
                  <a:cxn ang="cd4">
                    <a:pos x="ir" y="ib"/>
                  </a:cxn>
                  <a:cxn ang="0">
                    <a:pos x="r" y="vc"/>
                  </a:cxn>
                  <a:cxn ang="3">
                    <a:pos x="ir" y="it"/>
                  </a:cxn>
                </a:cxnLst>
                <a:rect l="l" t="t" r="r" b="b"/>
                <a:pathLst>
                  <a:path w="1448" h="1434">
                    <a:moveTo>
                      <a:pt x="0" y="72"/>
                    </a:moveTo>
                    <a:cubicBezTo>
                      <a:pt x="118" y="25"/>
                      <a:pt x="331" y="-3"/>
                      <a:pt x="440" y="0"/>
                    </a:cubicBezTo>
                    <a:cubicBezTo>
                      <a:pt x="1006" y="-12"/>
                      <a:pt x="1462" y="356"/>
                      <a:pt x="1448" y="717"/>
                    </a:cubicBezTo>
                    <a:cubicBezTo>
                      <a:pt x="1465" y="1119"/>
                      <a:pt x="947" y="1443"/>
                      <a:pt x="440" y="1433"/>
                    </a:cubicBezTo>
                    <a:cubicBezTo>
                      <a:pt x="287" y="1438"/>
                      <a:pt x="81" y="1392"/>
                      <a:pt x="1" y="1362"/>
                    </a:cubicBezTo>
                    <a:cubicBezTo>
                      <a:pt x="486" y="1212"/>
                      <a:pt x="808" y="921"/>
                      <a:pt x="784" y="717"/>
                    </a:cubicBezTo>
                    <a:cubicBezTo>
                      <a:pt x="818" y="468"/>
                      <a:pt x="391" y="198"/>
                      <a:pt x="0" y="72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2" name="Freeform 21"/>
              <p:cNvSpPr/>
              <p:nvPr/>
            </p:nvSpPr>
            <p:spPr>
              <a:xfrm>
                <a:off x="14701" y="6787"/>
                <a:ext cx="1352" cy="1290"/>
              </a:xfrm>
              <a:custGeom>
                <a:avLst/>
                <a:gdLst>
                  <a:gd name="idx" fmla="cos wd2 2700000"/>
                  <a:gd name="idy" fmla="sin hd2 2700000"/>
                  <a:gd name="il" fmla="+- hc 0 idx"/>
                  <a:gd name="ir" fmla="+- hc idx 0"/>
                  <a:gd name="it" fmla="+- vc 0 idy"/>
                  <a:gd name="ib" fmla="+- vc idy 0"/>
                </a:gdLst>
                <a:ahLst/>
                <a:cxnLst>
                  <a:cxn ang="3">
                    <a:pos x="hc" y="t"/>
                  </a:cxn>
                  <a:cxn ang="3">
                    <a:pos x="il" y="it"/>
                  </a:cxn>
                  <a:cxn ang="cd2">
                    <a:pos x="l" y="vc"/>
                  </a:cxn>
                  <a:cxn ang="cd4">
                    <a:pos x="il" y="ib"/>
                  </a:cxn>
                  <a:cxn ang="cd4">
                    <a:pos x="hc" y="b"/>
                  </a:cxn>
                  <a:cxn ang="cd4">
                    <a:pos x="ir" y="ib"/>
                  </a:cxn>
                  <a:cxn ang="0">
                    <a:pos x="r" y="vc"/>
                  </a:cxn>
                  <a:cxn ang="3">
                    <a:pos x="ir" y="it"/>
                  </a:cxn>
                </a:cxnLst>
                <a:rect l="l" t="t" r="r" b="b"/>
                <a:pathLst>
                  <a:path w="1356" h="1290">
                    <a:moveTo>
                      <a:pt x="568" y="0"/>
                    </a:moveTo>
                    <a:cubicBezTo>
                      <a:pt x="1056" y="151"/>
                      <a:pt x="1375" y="441"/>
                      <a:pt x="1352" y="645"/>
                    </a:cubicBezTo>
                    <a:cubicBezTo>
                      <a:pt x="1388" y="894"/>
                      <a:pt x="957" y="1165"/>
                      <a:pt x="570" y="1290"/>
                    </a:cubicBezTo>
                    <a:cubicBezTo>
                      <a:pt x="256" y="1200"/>
                      <a:pt x="-22" y="894"/>
                      <a:pt x="0" y="645"/>
                    </a:cubicBezTo>
                    <a:cubicBezTo>
                      <a:pt x="-27" y="358"/>
                      <a:pt x="305" y="78"/>
                      <a:pt x="568" y="0"/>
                    </a:cubicBezTo>
                    <a:close/>
                  </a:path>
                </a:pathLst>
              </a:custGeom>
              <a:pattFill prst="wdUpDiag">
                <a:fgClr>
                  <a:schemeClr val="tx1">
                    <a:lumMod val="75000"/>
                    <a:lumOff val="25000"/>
                  </a:schemeClr>
                </a:fgClr>
                <a:bgClr>
                  <a:srgbClr val="FFFFFF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4" name="Text Box 33"/>
              <p:cNvSpPr txBox="1"/>
              <p:nvPr/>
            </p:nvSpPr>
            <p:spPr>
              <a:xfrm>
                <a:off x="11540" y="5369"/>
                <a:ext cx="2624" cy="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1200">
                    <a:latin typeface="DejaVu Math TeX Gyre" panose="02000503000000000000" charset="0"/>
                    <a:cs typeface="DejaVu Math TeX Gyre" panose="02000503000000000000" charset="0"/>
                  </a:rPr>
                  <a:t>reused [3]</a:t>
                </a:r>
                <a:endParaRPr lang="en-US" sz="1200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  <p:sp>
            <p:nvSpPr>
              <p:cNvPr id="35" name="Text Box 34"/>
              <p:cNvSpPr txBox="1"/>
              <p:nvPr/>
            </p:nvSpPr>
            <p:spPr>
              <a:xfrm>
                <a:off x="16167" y="5948"/>
                <a:ext cx="1373" cy="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1200">
                    <a:latin typeface="DejaVu Math TeX Gyre" panose="02000503000000000000" charset="0"/>
                    <a:cs typeface="DejaVu Math TeX Gyre" panose="02000503000000000000" charset="0"/>
                  </a:rPr>
                  <a:t>new</a:t>
                </a:r>
                <a:endParaRPr lang="en-US" sz="1200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  <p:sp>
            <p:nvSpPr>
              <p:cNvPr id="37" name="Text Box 36"/>
              <p:cNvSpPr txBox="1"/>
              <p:nvPr/>
            </p:nvSpPr>
            <p:spPr>
              <a:xfrm>
                <a:off x="15012" y="8489"/>
                <a:ext cx="3277" cy="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1200">
                    <a:latin typeface="DejaVu Math TeX Gyre" panose="02000503000000000000" charset="0"/>
                    <a:cs typeface="DejaVu Math TeX Gyre" panose="02000503000000000000" charset="0"/>
                  </a:rPr>
                  <a:t>changed [4]</a:t>
                </a:r>
                <a:endParaRPr lang="en-US" sz="1200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  <p:cxnSp>
            <p:nvCxnSpPr>
              <p:cNvPr id="38" name="Straight Arrow Connector 37"/>
              <p:cNvCxnSpPr>
                <a:stCxn id="34" idx="2"/>
                <a:endCxn id="5" idx="0"/>
              </p:cNvCxnSpPr>
              <p:nvPr/>
            </p:nvCxnSpPr>
            <p:spPr>
              <a:xfrm>
                <a:off x="12852" y="6080"/>
                <a:ext cx="25" cy="424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prstDash val="solid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>
                <a:stCxn id="35" idx="2"/>
                <a:endCxn id="21" idx="7"/>
              </p:cNvCxnSpPr>
              <p:nvPr/>
            </p:nvCxnSpPr>
            <p:spPr>
              <a:xfrm flipH="1">
                <a:off x="16118" y="6659"/>
                <a:ext cx="737" cy="265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prstDash val="solid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>
                <a:stCxn id="37" idx="0"/>
                <a:endCxn id="22" idx="4"/>
              </p:cNvCxnSpPr>
              <p:nvPr/>
            </p:nvCxnSpPr>
            <p:spPr>
              <a:xfrm flipH="1" flipV="1">
                <a:off x="15377" y="8076"/>
                <a:ext cx="1274" cy="41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prstDash val="solid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stCxn id="6" idx="6"/>
                <a:endCxn id="5" idx="2"/>
              </p:cNvCxnSpPr>
              <p:nvPr/>
            </p:nvCxnSpPr>
            <p:spPr>
              <a:xfrm>
                <a:off x="7702" y="7432"/>
                <a:ext cx="2782" cy="0"/>
              </a:xfrm>
              <a:prstGeom prst="straightConnector1">
                <a:avLst/>
              </a:prstGeom>
              <a:ln w="57150" cmpd="dbl">
                <a:solidFill>
                  <a:schemeClr val="accent1">
                    <a:shade val="50000"/>
                  </a:schemeClr>
                </a:solidFill>
                <a:prstDash val="solid"/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 Box 32"/>
              <p:cNvSpPr txBox="1"/>
              <p:nvPr/>
            </p:nvSpPr>
            <p:spPr>
              <a:xfrm>
                <a:off x="2609" y="7091"/>
                <a:ext cx="4878" cy="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1200">
                    <a:latin typeface="DejaVu Math TeX Gyre" panose="02000503000000000000" charset="0"/>
                    <a:cs typeface="DejaVu Math TeX Gyre" panose="02000503000000000000" charset="0"/>
                  </a:rPr>
                  <a:t>prior-knowledge</a:t>
                </a:r>
                <a:endParaRPr lang="en-US" sz="1200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  <p:sp>
            <p:nvSpPr>
              <p:cNvPr id="8" name="Text Box 7"/>
              <p:cNvSpPr txBox="1"/>
              <p:nvPr/>
            </p:nvSpPr>
            <p:spPr>
              <a:xfrm>
                <a:off x="8722" y="6430"/>
                <a:ext cx="528" cy="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>
                    <a:latin typeface="DejaVu Math TeX Gyre" panose="02000503000000000000" charset="0"/>
                    <a:cs typeface="DejaVu Math TeX Gyre" panose="02000503000000000000" charset="0"/>
                  </a:rPr>
                  <a:t>T</a:t>
                </a:r>
                <a:endParaRPr lang="en-US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 Box 8"/>
                  <p:cNvSpPr txBox="1"/>
                  <p:nvPr/>
                </p:nvSpPr>
                <p:spPr>
                  <a:xfrm>
                    <a:off x="8574" y="7569"/>
                    <a:ext cx="825" cy="94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/>
                  </a:p>
                </p:txBody>
              </p:sp>
            </mc:Choice>
            <mc:Fallback>
              <p:sp>
                <p:nvSpPr>
                  <p:cNvPr id="9" name="Text 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74" y="7569"/>
                    <a:ext cx="825" cy="949"/>
                  </a:xfrm>
                  <a:prstGeom prst="rect">
                    <a:avLst/>
                  </a:prstGeom>
                  <a:blipFill rotWithShape="1">
                    <a:blip r:embed="rId1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" name="Freeform 10"/>
            <p:cNvSpPr/>
            <p:nvPr/>
          </p:nvSpPr>
          <p:spPr>
            <a:xfrm>
              <a:off x="10446" y="6552"/>
              <a:ext cx="2924" cy="1134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4788" h="1859">
                  <a:moveTo>
                    <a:pt x="0" y="928"/>
                  </a:moveTo>
                  <a:cubicBezTo>
                    <a:pt x="-48" y="407"/>
                    <a:pt x="1383" y="-13"/>
                    <a:pt x="2785" y="0"/>
                  </a:cubicBezTo>
                  <a:cubicBezTo>
                    <a:pt x="3562" y="-19"/>
                    <a:pt x="4467" y="160"/>
                    <a:pt x="4785" y="283"/>
                  </a:cubicBezTo>
                  <a:cubicBezTo>
                    <a:pt x="4475" y="371"/>
                    <a:pt x="4194" y="678"/>
                    <a:pt x="4217" y="928"/>
                  </a:cubicBezTo>
                  <a:cubicBezTo>
                    <a:pt x="4191" y="1214"/>
                    <a:pt x="4520" y="1493"/>
                    <a:pt x="4787" y="1573"/>
                  </a:cubicBezTo>
                  <a:cubicBezTo>
                    <a:pt x="4396" y="1730"/>
                    <a:pt x="3427" y="1871"/>
                    <a:pt x="2785" y="1856"/>
                  </a:cubicBezTo>
                  <a:cubicBezTo>
                    <a:pt x="1222" y="1872"/>
                    <a:pt x="-38" y="1395"/>
                    <a:pt x="0" y="928"/>
                  </a:cubicBezTo>
                  <a:close/>
                </a:path>
              </a:pathLst>
            </a:cu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rgbClr val="FFFFFF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13369" y="6681"/>
              <a:ext cx="608" cy="87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448" h="1434">
                  <a:moveTo>
                    <a:pt x="0" y="72"/>
                  </a:moveTo>
                  <a:cubicBezTo>
                    <a:pt x="118" y="25"/>
                    <a:pt x="331" y="-3"/>
                    <a:pt x="440" y="0"/>
                  </a:cubicBezTo>
                  <a:cubicBezTo>
                    <a:pt x="1006" y="-12"/>
                    <a:pt x="1462" y="356"/>
                    <a:pt x="1448" y="717"/>
                  </a:cubicBezTo>
                  <a:cubicBezTo>
                    <a:pt x="1465" y="1119"/>
                    <a:pt x="947" y="1443"/>
                    <a:pt x="440" y="1433"/>
                  </a:cubicBezTo>
                  <a:cubicBezTo>
                    <a:pt x="287" y="1438"/>
                    <a:pt x="81" y="1392"/>
                    <a:pt x="1" y="1362"/>
                  </a:cubicBezTo>
                  <a:cubicBezTo>
                    <a:pt x="486" y="1212"/>
                    <a:pt x="808" y="921"/>
                    <a:pt x="784" y="717"/>
                  </a:cubicBezTo>
                  <a:cubicBezTo>
                    <a:pt x="818" y="468"/>
                    <a:pt x="391" y="198"/>
                    <a:pt x="0" y="72"/>
                  </a:cubicBezTo>
                  <a:close/>
                </a:path>
              </a:pathLst>
            </a:cu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3022" y="6725"/>
              <a:ext cx="826" cy="788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356" h="1290">
                  <a:moveTo>
                    <a:pt x="568" y="0"/>
                  </a:moveTo>
                  <a:cubicBezTo>
                    <a:pt x="1056" y="151"/>
                    <a:pt x="1375" y="441"/>
                    <a:pt x="1352" y="645"/>
                  </a:cubicBezTo>
                  <a:cubicBezTo>
                    <a:pt x="1388" y="894"/>
                    <a:pt x="957" y="1165"/>
                    <a:pt x="570" y="1290"/>
                  </a:cubicBezTo>
                  <a:cubicBezTo>
                    <a:pt x="256" y="1200"/>
                    <a:pt x="-22" y="894"/>
                    <a:pt x="0" y="645"/>
                  </a:cubicBezTo>
                  <a:cubicBezTo>
                    <a:pt x="-27" y="358"/>
                    <a:pt x="305" y="78"/>
                    <a:pt x="568" y="0"/>
                  </a:cubicBezTo>
                  <a:close/>
                </a:path>
              </a:pathLst>
            </a:custGeom>
            <a:pattFill prst="wdUpDiag">
              <a:fgClr>
                <a:schemeClr val="tx1">
                  <a:lumMod val="75000"/>
                  <a:lumOff val="25000"/>
                </a:schemeClr>
              </a:fgClr>
              <a:bgClr>
                <a:srgbClr val="FFFFFF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10460" y="6554"/>
              <a:ext cx="3402" cy="1134"/>
            </a:xfrm>
            <a:prstGeom prst="ellipse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rgbClr val="FFFFFF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cxnSp>
          <p:nvCxnSpPr>
            <p:cNvPr id="14" name="Curved Connector 13"/>
            <p:cNvCxnSpPr>
              <a:endCxn id="3" idx="2"/>
            </p:cNvCxnSpPr>
            <p:nvPr/>
          </p:nvCxnSpPr>
          <p:spPr>
            <a:xfrm rot="5400000" flipV="1">
              <a:off x="8144" y="4805"/>
              <a:ext cx="1163" cy="3470"/>
            </a:xfrm>
            <a:prstGeom prst="curvedConnector2">
              <a:avLst/>
            </a:prstGeom>
            <a:ln w="38100" cmpd="dbl">
              <a:solidFill>
                <a:srgbClr val="FF3300"/>
              </a:solidFill>
              <a:prstDash val="sysDash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 Box 15"/>
                <p:cNvSpPr txBox="1"/>
                <p:nvPr/>
              </p:nvSpPr>
              <p:spPr>
                <a:xfrm>
                  <a:off x="7082" y="7129"/>
                  <a:ext cx="3127" cy="53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do</m:t>
                        </m:r>
                        <m:r>
                          <a:rPr lang="en-US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)=</m:t>
                        </m:r>
                        <m:r>
                          <a:rPr lang="en-US" sz="140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𝑓𝑟𝑒𝑒𝑧𝑒</m:t>
                        </m:r>
                        <m:r>
                          <a:rPr lang="en-US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𝑏</m:t>
                            </m:r>
                          </m:sup>
                        </m:sSubSup>
                        <m:r>
                          <a:rPr lang="en-US" sz="1400" i="1">
                            <a:latin typeface="DejaVu Math TeX Gyre" panose="02000503000000000000" charset="0"/>
                            <a:ea typeface="MS Mincho" charset="0"/>
                            <a:cs typeface="DejaVu Math TeX Gyre" panose="02000503000000000000" charset="0"/>
                          </a:rPr>
                          <m:t>)</m:t>
                        </m:r>
                      </m:oMath>
                    </m:oMathPara>
                  </a14:m>
                  <a:endParaRPr lang="en-US" sz="1400" i="1"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16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2" y="7129"/>
                  <a:ext cx="3127" cy="53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 Box 18"/>
            <p:cNvSpPr txBox="1"/>
            <p:nvPr/>
          </p:nvSpPr>
          <p:spPr>
            <a:xfrm>
              <a:off x="12860" y="4048"/>
              <a:ext cx="32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>
                  <a:latin typeface="DejaVu Math TeX Gyre" panose="02000503000000000000" charset="0"/>
                  <a:cs typeface="DejaVu Math TeX Gyre" panose="02000503000000000000" charset="0"/>
                </a:rPr>
                <a:t>F</a:t>
              </a:r>
              <a:endParaRPr lang="en-US">
                <a:latin typeface="DejaVu Math TeX Gyre" panose="02000503000000000000" charset="0"/>
                <a:cs typeface="DejaVu Math TeX Gyre" panose="02000503000000000000" charset="0"/>
              </a:endParaRPr>
            </a:p>
          </p:txBody>
        </p:sp>
      </p:grp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25"/>
              <p:cNvSpPr txBox="1"/>
              <p:nvPr/>
            </p:nvSpPr>
            <p:spPr>
              <a:xfrm>
                <a:off x="827405" y="1364615"/>
                <a:ext cx="9846310" cy="5842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1600"/>
                  <a:t>Trong đó giá trị định hướng (Độ lợi thích ứng - Adaptation Gain)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∆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𝑀</m:t>
                    </m:r>
                  </m:oMath>
                </a14:m>
                <a:r>
                  <a:rPr lang="en-US" sz="1600"/>
                  <a:t> là kết quả của một phép can thiệp nhân quả vào tri thức tiền nghiệm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𝜃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/>
                  <a:t> nhằm cô lập ảnh hưởng của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/>
                  <a:t> lên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𝜃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/>
                  <a:t>.</a:t>
                </a:r>
                <a:endParaRPr lang="en-US" sz="1600"/>
              </a:p>
            </p:txBody>
          </p:sp>
        </mc:Choice>
        <mc:Fallback>
          <p:sp>
            <p:nvSpPr>
              <p:cNvPr id="26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05" y="1364615"/>
                <a:ext cx="9846310" cy="5842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/>
          <p:cNvGrpSpPr/>
          <p:nvPr/>
        </p:nvGrpSpPr>
        <p:grpSpPr>
          <a:xfrm>
            <a:off x="1945005" y="5003165"/>
            <a:ext cx="8301355" cy="582930"/>
            <a:chOff x="2777" y="8687"/>
            <a:chExt cx="13073" cy="918"/>
          </a:xfrm>
        </p:grpSpPr>
        <p:sp>
          <p:nvSpPr>
            <p:cNvPr id="31" name="Text Box 30"/>
            <p:cNvSpPr txBox="1"/>
            <p:nvPr/>
          </p:nvSpPr>
          <p:spPr>
            <a:xfrm>
              <a:off x="3700" y="8687"/>
              <a:ext cx="1215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600" b="1" i="1"/>
                <a:t>Độ lợi thích ứng </a:t>
              </a:r>
              <a:r>
                <a:rPr lang="en-US" sz="1600"/>
                <a:t>là phần đóng góp thêm mà việc cập nhật backbone mang lại, ngoài phần đã có sẵn nhờ tái sử dụng đặc trưng (feature-reuse).</a:t>
              </a:r>
              <a:endParaRPr lang="en-US" sz="1600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2777" y="8983"/>
              <a:ext cx="923" cy="0"/>
            </a:xfrm>
            <a:prstGeom prst="straightConnector1">
              <a:avLst/>
            </a:prstGeom>
            <a:ln w="123825" cmpd="dbl">
              <a:solidFill>
                <a:schemeClr val="tx1">
                  <a:lumMod val="50000"/>
                  <a:lumOff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 Box 35"/>
          <p:cNvSpPr txBox="1"/>
          <p:nvPr/>
        </p:nvSpPr>
        <p:spPr>
          <a:xfrm>
            <a:off x="657860" y="6356350"/>
            <a:ext cx="68256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800"/>
              <a:t>[</a:t>
            </a:r>
            <a:r>
              <a:rPr lang="en-US" altLang="vi-VN" sz="800"/>
              <a:t>3</a:t>
            </a:r>
            <a:r>
              <a:rPr lang="vi-VN" altLang="en-US" sz="800"/>
              <a:t>] </a:t>
            </a:r>
            <a:r>
              <a:rPr lang="en-US" altLang="vi-VN" sz="800"/>
              <a:t>ANIL </a:t>
            </a:r>
            <a:r>
              <a:rPr lang="en-US" altLang="en-US" sz="800"/>
              <a:t>(</a:t>
            </a:r>
            <a:r>
              <a:rPr lang="en-US" sz="800">
                <a:sym typeface="+mn-ea"/>
              </a:rPr>
              <a:t>Raghu et al. ‘19)</a:t>
            </a:r>
            <a:endParaRPr lang="en-US" sz="800">
              <a:sym typeface="+mn-ea"/>
            </a:endParaRPr>
          </a:p>
          <a:p>
            <a:r>
              <a:rPr lang="en-US" altLang="en-US" sz="800"/>
              <a:t>[4] BOIL (Oh et al. ‘20)</a:t>
            </a:r>
            <a:endParaRPr lang="en-US" altLang="en-US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2. Phát biểu bài toán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25"/>
              <p:cNvSpPr txBox="1"/>
              <p:nvPr/>
            </p:nvSpPr>
            <p:spPr>
              <a:xfrm>
                <a:off x="827405" y="1364615"/>
                <a:ext cx="9846310" cy="6311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1600"/>
                  <a:t>Với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∆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𝑀</m:t>
                    </m:r>
                  </m:oMath>
                </a14:m>
                <a:r>
                  <a:rPr lang="en-US" sz="1600"/>
                  <a:t> ta xác định các giá trị quy kết ngược về từng mẫu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⊂</m:t>
                        </m:r>
                        <m:sSub>
                          <m:sSubPr>
                            <m:ctrlP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/>
                  <a:t> tại mọi trạng thái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∅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/>
                  <a:t> của quỹ đạo thích ứng và chiếu lên không gian đặc trưng chung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𝐹</m:t>
                    </m:r>
                  </m:oMath>
                </a14:m>
                <a:endParaRPr lang="en-US" sz="16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6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05" y="1364615"/>
                <a:ext cx="9846310" cy="63119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/>
          <p:cNvGrpSpPr/>
          <p:nvPr/>
        </p:nvGrpSpPr>
        <p:grpSpPr>
          <a:xfrm>
            <a:off x="2336800" y="2540000"/>
            <a:ext cx="7950835" cy="1533525"/>
            <a:chOff x="4200" y="4723"/>
            <a:chExt cx="12521" cy="2415"/>
          </a:xfrm>
        </p:grpSpPr>
        <p:grpSp>
          <p:nvGrpSpPr>
            <p:cNvPr id="8" name="Group 7"/>
            <p:cNvGrpSpPr/>
            <p:nvPr/>
          </p:nvGrpSpPr>
          <p:grpSpPr>
            <a:xfrm>
              <a:off x="4545" y="5181"/>
              <a:ext cx="12177" cy="1884"/>
              <a:chOff x="4492" y="5314"/>
              <a:chExt cx="12177" cy="1884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92" y="5314"/>
                <a:ext cx="11750" cy="1885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Text Box 6"/>
                  <p:cNvSpPr txBox="1"/>
                  <p:nvPr/>
                </p:nvSpPr>
                <p:spPr>
                  <a:xfrm>
                    <a:off x="15845" y="5824"/>
                    <a:ext cx="824" cy="434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𝑀</m:t>
                          </m:r>
                        </m:oMath>
                      </m:oMathPara>
                    </a14:m>
                    <a:endParaRPr lang="en-US" sz="1200" i="1">
                      <a:latin typeface="DejaVu Math TeX Gyre" panose="02000503000000000000" charset="0"/>
                      <a:cs typeface="DejaVu Math TeX Gyre" panose="02000503000000000000" charset="0"/>
                    </a:endParaRPr>
                  </a:p>
                </p:txBody>
              </p:sp>
            </mc:Choice>
            <mc:Fallback>
              <p:sp>
                <p:nvSpPr>
                  <p:cNvPr id="7" name="Text 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45" y="5824"/>
                    <a:ext cx="824" cy="434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" name="Text Box 10"/>
            <p:cNvSpPr txBox="1"/>
            <p:nvPr/>
          </p:nvSpPr>
          <p:spPr>
            <a:xfrm>
              <a:off x="8624" y="5110"/>
              <a:ext cx="135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en-US"/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6360" y="5110"/>
              <a:ext cx="135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en-US"/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5008" y="5834"/>
              <a:ext cx="135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en-US"/>
            </a:p>
          </p:txBody>
        </p:sp>
        <p:sp>
          <p:nvSpPr>
            <p:cNvPr id="14" name="Text Box 13"/>
            <p:cNvSpPr txBox="1"/>
            <p:nvPr/>
          </p:nvSpPr>
          <p:spPr>
            <a:xfrm>
              <a:off x="4200" y="6558"/>
              <a:ext cx="135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en-US"/>
            </a:p>
          </p:txBody>
        </p:sp>
        <p:sp>
          <p:nvSpPr>
            <p:cNvPr id="15" name="Text Box 14"/>
            <p:cNvSpPr txBox="1"/>
            <p:nvPr/>
          </p:nvSpPr>
          <p:spPr>
            <a:xfrm>
              <a:off x="6177" y="6414"/>
              <a:ext cx="135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en-US"/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8624" y="6414"/>
              <a:ext cx="135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en-US"/>
            </a:p>
          </p:txBody>
        </p:sp>
        <p:sp>
          <p:nvSpPr>
            <p:cNvPr id="17" name="Text Box 16"/>
            <p:cNvSpPr txBox="1"/>
            <p:nvPr/>
          </p:nvSpPr>
          <p:spPr>
            <a:xfrm>
              <a:off x="10442" y="6414"/>
              <a:ext cx="135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en-US"/>
            </a:p>
          </p:txBody>
        </p:sp>
        <p:cxnSp>
          <p:nvCxnSpPr>
            <p:cNvPr id="18" name="Curved Connector 17"/>
            <p:cNvCxnSpPr>
              <a:stCxn id="7" idx="0"/>
              <a:endCxn id="20" idx="0"/>
            </p:cNvCxnSpPr>
            <p:nvPr/>
          </p:nvCxnSpPr>
          <p:spPr>
            <a:xfrm rot="16200000" flipV="1">
              <a:off x="13424" y="2805"/>
              <a:ext cx="580" cy="5192"/>
            </a:xfrm>
            <a:prstGeom prst="curvedConnector3">
              <a:avLst>
                <a:gd name="adj1" fmla="val 164655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Box 19"/>
            <p:cNvSpPr txBox="1"/>
            <p:nvPr/>
          </p:nvSpPr>
          <p:spPr>
            <a:xfrm>
              <a:off x="10442" y="5111"/>
              <a:ext cx="135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en-US"/>
            </a:p>
          </p:txBody>
        </p:sp>
        <p:cxnSp>
          <p:nvCxnSpPr>
            <p:cNvPr id="21" name="Curved Connector 20"/>
            <p:cNvCxnSpPr>
              <a:stCxn id="20" idx="0"/>
            </p:cNvCxnSpPr>
            <p:nvPr/>
          </p:nvCxnSpPr>
          <p:spPr>
            <a:xfrm rot="16200000" flipH="1" flipV="1">
              <a:off x="10208" y="4237"/>
              <a:ext cx="36" cy="1784"/>
            </a:xfrm>
            <a:prstGeom prst="curvedConnector4">
              <a:avLst>
                <a:gd name="adj1" fmla="val -1041667"/>
                <a:gd name="adj2" fmla="val 97197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/>
            <p:cNvCxnSpPr/>
            <p:nvPr/>
          </p:nvCxnSpPr>
          <p:spPr>
            <a:xfrm rot="10800000" flipV="1">
              <a:off x="6840" y="4723"/>
              <a:ext cx="1088" cy="494"/>
            </a:xfrm>
            <a:prstGeom prst="curvedConnector3">
              <a:avLst>
                <a:gd name="adj1" fmla="val 9136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urved Connector 22"/>
            <p:cNvCxnSpPr>
              <a:endCxn id="13" idx="0"/>
            </p:cNvCxnSpPr>
            <p:nvPr/>
          </p:nvCxnSpPr>
          <p:spPr>
            <a:xfrm rot="10800000" flipV="1">
              <a:off x="5684" y="5120"/>
              <a:ext cx="1316" cy="714"/>
            </a:xfrm>
            <a:prstGeom prst="curved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urved Connector 23"/>
            <p:cNvCxnSpPr>
              <a:stCxn id="13" idx="0"/>
            </p:cNvCxnSpPr>
            <p:nvPr/>
          </p:nvCxnSpPr>
          <p:spPr>
            <a:xfrm rot="16200000" flipH="1" flipV="1">
              <a:off x="4815" y="5844"/>
              <a:ext cx="878" cy="859"/>
            </a:xfrm>
            <a:prstGeom prst="curvedConnector3">
              <a:avLst>
                <a:gd name="adj1" fmla="val -72949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urved Connector 24"/>
            <p:cNvCxnSpPr>
              <a:stCxn id="7" idx="2"/>
              <a:endCxn id="17" idx="2"/>
            </p:cNvCxnSpPr>
            <p:nvPr/>
          </p:nvCxnSpPr>
          <p:spPr>
            <a:xfrm rot="5400000">
              <a:off x="13280" y="3963"/>
              <a:ext cx="869" cy="5192"/>
            </a:xfrm>
            <a:prstGeom prst="curvedConnector3">
              <a:avLst>
                <a:gd name="adj1" fmla="val 143096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/>
            <p:cNvCxnSpPr>
              <a:stCxn id="17" idx="2"/>
              <a:endCxn id="16" idx="2"/>
            </p:cNvCxnSpPr>
            <p:nvPr/>
          </p:nvCxnSpPr>
          <p:spPr>
            <a:xfrm rot="5400000">
              <a:off x="10209" y="6085"/>
              <a:ext cx="5" cy="1818"/>
            </a:xfrm>
            <a:prstGeom prst="curvedConnector3">
              <a:avLst>
                <a:gd name="adj1" fmla="val 75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/>
            <p:cNvCxnSpPr/>
            <p:nvPr/>
          </p:nvCxnSpPr>
          <p:spPr>
            <a:xfrm rot="10800000">
              <a:off x="6806" y="6876"/>
              <a:ext cx="910" cy="234"/>
            </a:xfrm>
            <a:prstGeom prst="curvedConnector3">
              <a:avLst>
                <a:gd name="adj1" fmla="val 87802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/>
            <p:cNvCxnSpPr>
              <a:stCxn id="15" idx="2"/>
              <a:endCxn id="13" idx="2"/>
            </p:cNvCxnSpPr>
            <p:nvPr/>
          </p:nvCxnSpPr>
          <p:spPr>
            <a:xfrm rot="5400000" flipH="1">
              <a:off x="5978" y="6119"/>
              <a:ext cx="580" cy="1169"/>
            </a:xfrm>
            <a:prstGeom prst="curvedConnector3">
              <a:avLst>
                <a:gd name="adj1" fmla="val 13017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3. Các nghiên cứu liên quan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150" y="4302125"/>
            <a:ext cx="5092700" cy="185039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47700" y="6308725"/>
            <a:ext cx="6825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vi-VN" sz="800"/>
              <a:t>[5] HSML - Yao et al ‘ 19</a:t>
            </a:r>
            <a:endParaRPr lang="en-US" altLang="vi-VN" sz="800"/>
          </a:p>
          <a:p>
            <a:r>
              <a:rPr lang="en-US" altLang="vi-VN" sz="800"/>
              <a:t>[6] ARML - Yao et al ‘20</a:t>
            </a:r>
            <a:endParaRPr lang="en-US" altLang="vi-VN" sz="800"/>
          </a:p>
          <a:p>
            <a:r>
              <a:rPr lang="vi-VN" altLang="en-US" sz="800"/>
              <a:t>[</a:t>
            </a:r>
            <a:r>
              <a:rPr lang="en-US" altLang="vi-VN" sz="800"/>
              <a:t>7</a:t>
            </a:r>
            <a:r>
              <a:rPr lang="vi-VN" altLang="en-US" sz="800"/>
              <a:t>] </a:t>
            </a:r>
            <a:r>
              <a:rPr lang="en-US" altLang="en-US" sz="800"/>
              <a:t>HeTroM - Si et al ‘25</a:t>
            </a:r>
            <a:endParaRPr lang="en-US" altLang="en-US" sz="800"/>
          </a:p>
        </p:txBody>
      </p:sp>
      <p:sp>
        <p:nvSpPr>
          <p:cNvPr id="11" name="Text Box 10"/>
          <p:cNvSpPr txBox="1"/>
          <p:nvPr/>
        </p:nvSpPr>
        <p:spPr>
          <a:xfrm>
            <a:off x="829945" y="1426845"/>
            <a:ext cx="1033335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Heterogeneous task (</a:t>
            </a:r>
            <a:r>
              <a:rPr lang="en-US" b="1" i="1"/>
              <a:t>tác vụ không đồng nhất</a:t>
            </a:r>
            <a:r>
              <a:rPr lang="en-US" b="1"/>
              <a:t>)</a:t>
            </a:r>
            <a:endParaRPr lang="en-US" b="1"/>
          </a:p>
          <a:p>
            <a:r>
              <a:rPr lang="en-US" sz="1600"/>
              <a:t>- Định nghĩa: Các tác vụ dùng trong quá trình meta-training đến từ nhiều phân phối con </a:t>
            </a:r>
            <a:r>
              <a:rPr lang="en-US" sz="1600" u="sng"/>
              <a:t>có đặc tính khác biệt</a:t>
            </a:r>
            <a:r>
              <a:rPr lang="en-US" sz="1600"/>
              <a:t>.</a:t>
            </a:r>
            <a:endParaRPr lang="en-US" sz="1600"/>
          </a:p>
        </p:txBody>
      </p:sp>
      <p:sp>
        <p:nvSpPr>
          <p:cNvPr id="3" name="Text Box 2"/>
          <p:cNvSpPr txBox="1"/>
          <p:nvPr/>
        </p:nvSpPr>
        <p:spPr>
          <a:xfrm>
            <a:off x="829945" y="2040890"/>
            <a:ext cx="10333355" cy="1914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ts val="600"/>
              </a:spcBef>
            </a:pPr>
            <a:r>
              <a:rPr lang="en-US" altLang="vi-VN" sz="1600"/>
              <a:t>- Nhìn chung có rất nhiều nghiên cứu giải quyết bài toán này (HSML [5], ARML [6],...) nhưng chỉ dừng ở mức điều chỉnh tham số khởi tạo chuyên biệt mà chưa có giải thích cơ chế thích ứng.</a:t>
            </a:r>
            <a:endParaRPr lang="en-US" altLang="vi-VN" sz="1600" i="1"/>
          </a:p>
          <a:p>
            <a:pPr>
              <a:spcBef>
                <a:spcPts val="600"/>
              </a:spcBef>
            </a:pPr>
            <a:r>
              <a:rPr lang="en-US" altLang="vi-VN" sz="1600" i="1"/>
              <a:t>- Gần đây, </a:t>
            </a:r>
            <a:r>
              <a:rPr lang="vi-VN" sz="1600" i="1">
                <a:sym typeface="+mn-ea"/>
              </a:rPr>
              <a:t>Si và các cộng sự [</a:t>
            </a:r>
            <a:r>
              <a:rPr lang="en-US" altLang="vi-VN" sz="1600" i="1">
                <a:sym typeface="+mn-ea"/>
              </a:rPr>
              <a:t>7</a:t>
            </a:r>
            <a:r>
              <a:rPr lang="vi-VN" sz="1600" i="1">
                <a:sym typeface="+mn-ea"/>
              </a:rPr>
              <a:t>] đã khảo sát và chỉ ra 3 nguyên nhân phổ biến gây ra tác vụ không đồng nhất:</a:t>
            </a:r>
            <a:endParaRPr lang="vi-VN" sz="1400" i="1"/>
          </a:p>
          <a:p>
            <a:pPr marL="228600" indent="0">
              <a:spcBef>
                <a:spcPts val="300"/>
              </a:spcBef>
            </a:pPr>
            <a:r>
              <a:rPr lang="vi-VN" sz="1400">
                <a:sym typeface="+mn-ea"/>
              </a:rPr>
              <a:t>1. </a:t>
            </a:r>
            <a:r>
              <a:rPr lang="vi-VN" sz="1400" b="1" i="1" u="sng">
                <a:sym typeface="+mn-ea"/>
              </a:rPr>
              <a:t>Task khó (hard task):</a:t>
            </a:r>
            <a:r>
              <a:rPr lang="vi-VN" sz="1400">
                <a:sym typeface="+mn-ea"/>
              </a:rPr>
              <a:t> ngữ cảnh mơ hồ, ranh giới giữa các lớp không rõ ràng</a:t>
            </a:r>
            <a:r>
              <a:rPr lang="en-US" altLang="vi-VN" sz="1400">
                <a:sym typeface="+mn-ea"/>
              </a:rPr>
              <a:t>.</a:t>
            </a:r>
            <a:endParaRPr lang="vi-VN" sz="1400"/>
          </a:p>
          <a:p>
            <a:pPr marL="228600" indent="0">
              <a:spcBef>
                <a:spcPts val="300"/>
              </a:spcBef>
            </a:pPr>
            <a:r>
              <a:rPr lang="vi-VN" sz="1400">
                <a:sym typeface="+mn-ea"/>
              </a:rPr>
              <a:t>2. </a:t>
            </a:r>
            <a:r>
              <a:rPr lang="vi-VN" sz="1400" b="1" i="1" u="sng">
                <a:sym typeface="+mn-ea"/>
              </a:rPr>
              <a:t>Task nhiễu (noisy task):</a:t>
            </a:r>
            <a:r>
              <a:rPr lang="vi-VN" sz="1400">
                <a:sym typeface="+mn-ea"/>
              </a:rPr>
              <a:t> nhãn trong tập support/query bị gán sai</a:t>
            </a:r>
            <a:r>
              <a:rPr lang="en-US" altLang="vi-VN" sz="1400">
                <a:sym typeface="+mn-ea"/>
              </a:rPr>
              <a:t>.</a:t>
            </a:r>
            <a:endParaRPr lang="vi-VN" sz="1400"/>
          </a:p>
          <a:p>
            <a:pPr marL="228600" indent="0">
              <a:spcBef>
                <a:spcPts val="300"/>
              </a:spcBef>
            </a:pPr>
            <a:r>
              <a:rPr lang="vi-VN" sz="1400">
                <a:sym typeface="+mn-ea"/>
              </a:rPr>
              <a:t>3. </a:t>
            </a:r>
            <a:r>
              <a:rPr lang="vi-VN" sz="1400" b="1" i="1" u="sng">
                <a:sym typeface="+mn-ea"/>
              </a:rPr>
              <a:t>Task ngoại lai (outlier task):</a:t>
            </a:r>
            <a:r>
              <a:rPr lang="vi-VN" sz="1400">
                <a:sym typeface="+mn-ea"/>
              </a:rPr>
              <a:t> phân phối khác biệt hẳn so với đa số tác vụ còn lại</a:t>
            </a:r>
            <a:r>
              <a:rPr lang="en-US" altLang="vi-VN" sz="1400">
                <a:sym typeface="+mn-ea"/>
              </a:rPr>
              <a:t>.</a:t>
            </a:r>
            <a:endParaRPr lang="en-US" altLang="vi-VN" sz="1400">
              <a:sym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3. Các nghiên cứu liên quan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859155" y="6356350"/>
            <a:ext cx="68256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1000"/>
              <a:t>[</a:t>
            </a:r>
            <a:r>
              <a:rPr lang="en-US" altLang="vi-VN" sz="1000"/>
              <a:t>8</a:t>
            </a:r>
            <a:r>
              <a:rPr lang="vi-VN" altLang="en-US" sz="1000"/>
              <a:t>] </a:t>
            </a:r>
            <a:r>
              <a:rPr lang="en-US" altLang="en-US" sz="1000"/>
              <a:t>https://arxiv.org/pdf/2501.14271 - Mitsuka et al ‘25</a:t>
            </a:r>
            <a:endParaRPr lang="en-US" altLang="en-US" sz="10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5835" y="1912620"/>
            <a:ext cx="5307965" cy="265049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829945" y="1426845"/>
            <a:ext cx="68554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Giải thích bằng việc mở rộng hàm ảnh hưởng</a:t>
            </a:r>
            <a:br>
              <a:rPr lang="en-US"/>
            </a:br>
            <a:r>
              <a:rPr lang="en-US" sz="1400" i="1"/>
              <a:t>(Task level Explaination of Meta-Learning via Influnce Functions - </a:t>
            </a:r>
            <a:r>
              <a:rPr lang="en-US" sz="1400" b="1" i="1"/>
              <a:t>TLXML</a:t>
            </a:r>
            <a:r>
              <a:rPr lang="en-US" sz="1400" i="1"/>
              <a:t>)</a:t>
            </a:r>
            <a:endParaRPr lang="en-US" sz="1400" i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/>
              <p:cNvSpPr txBox="1"/>
              <p:nvPr/>
            </p:nvSpPr>
            <p:spPr>
              <a:xfrm>
                <a:off x="859155" y="2101850"/>
                <a:ext cx="5187315" cy="22764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>
                  <a:spcBef>
                    <a:spcPts val="600"/>
                  </a:spcBef>
                </a:pPr>
                <a:r>
                  <a:rPr lang="vi-VN" sz="1600">
                    <a:sym typeface="+mn-ea"/>
                  </a:rPr>
                  <a:t>TLXML (Mitsuka và các</a:t>
                </a:r>
                <a:r>
                  <a:rPr lang="en-US" altLang="vi-VN" sz="1600">
                    <a:sym typeface="+mn-ea"/>
                  </a:rPr>
                  <a:t> </a:t>
                </a:r>
                <a:r>
                  <a:rPr lang="vi-VN" sz="1600">
                    <a:sym typeface="+mn-ea"/>
                  </a:rPr>
                  <a:t>cộng sự [</a:t>
                </a:r>
                <a:r>
                  <a:rPr lang="en-US" altLang="vi-VN" sz="1600">
                    <a:sym typeface="+mn-ea"/>
                  </a:rPr>
                  <a:t>8</a:t>
                </a:r>
                <a:r>
                  <a:rPr lang="vi-VN" sz="1600">
                    <a:sym typeface="+mn-ea"/>
                  </a:rPr>
                  <a:t>]) mở rộng influence functions sang bối cảnh </a:t>
                </a:r>
                <a:r>
                  <a:rPr lang="en-US" altLang="vi-VN" sz="1600">
                    <a:sym typeface="+mn-ea"/>
                  </a:rPr>
                  <a:t>M</a:t>
                </a:r>
                <a:r>
                  <a:rPr lang="vi-VN" sz="1600">
                    <a:sym typeface="+mn-ea"/>
                  </a:rPr>
                  <a:t>eta-</a:t>
                </a:r>
                <a:r>
                  <a:rPr lang="en-US" altLang="vi-VN" sz="1600">
                    <a:sym typeface="+mn-ea"/>
                  </a:rPr>
                  <a:t>L</a:t>
                </a:r>
                <a:r>
                  <a:rPr lang="vi-VN" sz="1600">
                    <a:sym typeface="+mn-ea"/>
                  </a:rPr>
                  <a:t>earning</a:t>
                </a:r>
                <a:endParaRPr lang="vi-VN" sz="1600"/>
              </a:p>
              <a:p>
                <a:pPr marL="228600" indent="0">
                  <a:spcBef>
                    <a:spcPts val="300"/>
                  </a:spcBef>
                </a:pPr>
                <a:r>
                  <a:rPr lang="vi-VN" sz="1400">
                    <a:sym typeface="+mn-ea"/>
                  </a:rPr>
                  <a:t>- Định lượng ảnh hưởng của từng tác vụ trong meta-training lên hành vi thích ứng trên tác vụ đích</a:t>
                </a:r>
                <a:r>
                  <a:rPr lang="en-US" altLang="vi-VN" sz="1400">
                    <a:sym typeface="+mn-ea"/>
                  </a:rPr>
                  <a:t>.</a:t>
                </a:r>
                <a:endParaRPr lang="vi-VN" sz="1400"/>
              </a:p>
              <a:p>
                <a:pPr marL="228600" indent="0">
                  <a:spcBef>
                    <a:spcPts val="300"/>
                  </a:spcBef>
                </a:pPr>
                <a:r>
                  <a:rPr lang="vi-VN" sz="1400">
                    <a:sym typeface="+mn-ea"/>
                  </a:rPr>
                  <a:t>- Actionable insight: ảnh hưởng tích cực mạnh → re-weight; ảnh hưởng tiêu cực → discard</a:t>
                </a:r>
                <a:endParaRPr lang="vi-VN" sz="1400"/>
              </a:p>
              <a:p>
                <a:pPr>
                  <a:spcBef>
                    <a:spcPts val="600"/>
                  </a:spcBef>
                </a:pPr>
                <a:r>
                  <a:rPr lang="vi-VN" sz="1600" b="1" i="1" u="sng">
                    <a:sym typeface="+mn-ea"/>
                  </a:rPr>
                  <a:t>Hạn chế:</a:t>
                </a:r>
                <a:r>
                  <a:rPr lang="vi-VN" sz="1600">
                    <a:sym typeface="+mn-ea"/>
                  </a:rPr>
                  <a:t> </a:t>
                </a:r>
                <a:r>
                  <a:rPr lang="vi-VN" sz="1400">
                    <a:sym typeface="+mn-ea"/>
                  </a:rPr>
                  <a:t>vẫn coi thao tác thích ứng trên tập hỗ trợ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vi-VN" sz="140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vi-VN" sz="140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vi-VN" sz="140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i</m:t>
                        </m:r>
                      </m:sub>
                    </m:sSub>
                  </m:oMath>
                </a14:m>
                <a:r>
                  <a:rPr lang="vi-VN" sz="1400">
                    <a:sym typeface="+mn-ea"/>
                  </a:rPr>
                  <a:t> là "hộp đen" ở cấp tác vụ, và đòi hỏi quyền truy cập toàn bộ dữ liệu meta-training </a:t>
                </a:r>
                <a:r>
                  <a:rPr lang="en-US" altLang="vi-VN" sz="1400">
                    <a:sym typeface="+mn-ea"/>
                  </a:rPr>
                  <a:t>-</a:t>
                </a:r>
                <a:r>
                  <a:rPr lang="vi-VN" sz="1400">
                    <a:sym typeface="+mn-ea"/>
                  </a:rPr>
                  <a:t> khó khả thi khi triển khai thực tế</a:t>
                </a:r>
                <a:r>
                  <a:rPr lang="en-US" altLang="vi-VN" sz="1400">
                    <a:sym typeface="+mn-ea"/>
                  </a:rPr>
                  <a:t>.</a:t>
                </a:r>
                <a:endParaRPr lang="en-US" altLang="vi-VN" sz="1400">
                  <a:sym typeface="+mn-ea"/>
                </a:endParaRPr>
              </a:p>
            </p:txBody>
          </p:sp>
        </mc:Choice>
        <mc:Fallback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55" y="2101850"/>
                <a:ext cx="5187315" cy="22764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3. Các nghiên cứu liên quan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859155" y="6356350"/>
            <a:ext cx="68256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1000"/>
              <a:t>[</a:t>
            </a:r>
            <a:r>
              <a:rPr lang="en-US" altLang="vi-VN" sz="1000"/>
              <a:t>9</a:t>
            </a:r>
            <a:r>
              <a:rPr lang="vi-VN" altLang="en-US" sz="1000"/>
              <a:t>] </a:t>
            </a:r>
            <a:r>
              <a:rPr lang="en-US" altLang="en-US" sz="1000"/>
              <a:t>https://arxiv.org/pdf/1610.02391 - Selvaraju el al '16</a:t>
            </a:r>
            <a:endParaRPr lang="en-US" altLang="en-US" sz="1000"/>
          </a:p>
          <a:p>
            <a:r>
              <a:rPr lang="en-US" altLang="en-US" sz="1000"/>
              <a:t>[10] https://www.nature.com/articles/s41598-026-36291-x_reference.pdf - Han el al ‘26</a:t>
            </a:r>
            <a:endParaRPr lang="en-US" altLang="en-US" sz="1000"/>
          </a:p>
        </p:txBody>
      </p:sp>
      <p:sp>
        <p:nvSpPr>
          <p:cNvPr id="41" name="Text Box 40"/>
          <p:cNvSpPr txBox="1"/>
          <p:nvPr/>
        </p:nvSpPr>
        <p:spPr>
          <a:xfrm>
            <a:off x="829945" y="1426845"/>
            <a:ext cx="5643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ym typeface="+mn-ea"/>
              </a:rPr>
              <a:t>Open-MAML</a:t>
            </a:r>
            <a:endParaRPr lang="en-US" sz="1600" b="1"/>
          </a:p>
        </p:txBody>
      </p:sp>
      <p:grpSp>
        <p:nvGrpSpPr>
          <p:cNvPr id="73" name="Group 72"/>
          <p:cNvGrpSpPr/>
          <p:nvPr/>
        </p:nvGrpSpPr>
        <p:grpSpPr>
          <a:xfrm>
            <a:off x="5996305" y="1057910"/>
            <a:ext cx="5623560" cy="2743200"/>
            <a:chOff x="2919" y="4465"/>
            <a:chExt cx="8856" cy="4320"/>
          </a:xfrm>
        </p:grpSpPr>
        <p:sp>
          <p:nvSpPr>
            <p:cNvPr id="70" name="Text Box 69"/>
            <p:cNvSpPr txBox="1"/>
            <p:nvPr/>
          </p:nvSpPr>
          <p:spPr>
            <a:xfrm>
              <a:off x="5116" y="7833"/>
              <a:ext cx="159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000"/>
                <a:t>ReLU</a:t>
              </a:r>
              <a:endParaRPr lang="en-US" sz="1000"/>
            </a:p>
          </p:txBody>
        </p:sp>
        <p:grpSp>
          <p:nvGrpSpPr>
            <p:cNvPr id="72" name="Group 71"/>
            <p:cNvGrpSpPr/>
            <p:nvPr/>
          </p:nvGrpSpPr>
          <p:grpSpPr>
            <a:xfrm>
              <a:off x="2919" y="4465"/>
              <a:ext cx="8857" cy="4321"/>
              <a:chOff x="2919" y="2929"/>
              <a:chExt cx="12007" cy="5857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2919" y="2929"/>
                <a:ext cx="12007" cy="5857"/>
                <a:chOff x="2919" y="2929"/>
                <a:chExt cx="12007" cy="5857"/>
              </a:xfrm>
            </p:grpSpPr>
            <p:pic>
              <p:nvPicPr>
                <p:cNvPr id="3" name="Picture 2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2919" y="4815"/>
                  <a:ext cx="1215" cy="1170"/>
                </a:xfrm>
                <a:prstGeom prst="rect">
                  <a:avLst/>
                </a:prstGeom>
              </p:spPr>
            </p:pic>
            <p:sp>
              <p:nvSpPr>
                <p:cNvPr id="15" name="Trapezoid 14"/>
                <p:cNvSpPr/>
                <p:nvPr/>
              </p:nvSpPr>
              <p:spPr>
                <a:xfrm rot="5400000">
                  <a:off x="5091" y="4578"/>
                  <a:ext cx="1883" cy="1644"/>
                </a:xfrm>
                <a:prstGeom prst="trapezoid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p>
                  <a:pPr algn="ctr"/>
                  <a:r>
                    <a:rPr lang="en-US" sz="1000"/>
                    <a:t>Extractor</a:t>
                  </a:r>
                  <a:endParaRPr lang="en-US" sz="1000"/>
                </a:p>
              </p:txBody>
            </p:sp>
            <p:grpSp>
              <p:nvGrpSpPr>
                <p:cNvPr id="16" name="Group 15"/>
                <p:cNvGrpSpPr/>
                <p:nvPr/>
              </p:nvGrpSpPr>
              <p:grpSpPr>
                <a:xfrm>
                  <a:off x="13666" y="4407"/>
                  <a:ext cx="866" cy="1989"/>
                  <a:chOff x="9705" y="3439"/>
                  <a:chExt cx="1369" cy="3526"/>
                </a:xfrm>
              </p:grpSpPr>
              <p:sp>
                <p:nvSpPr>
                  <p:cNvPr id="19" name="Rectangles 18"/>
                  <p:cNvSpPr/>
                  <p:nvPr/>
                </p:nvSpPr>
                <p:spPr>
                  <a:xfrm>
                    <a:off x="9705" y="3439"/>
                    <a:ext cx="212" cy="352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Rectangles 19"/>
                  <p:cNvSpPr/>
                  <p:nvPr/>
                </p:nvSpPr>
                <p:spPr>
                  <a:xfrm>
                    <a:off x="10356" y="3890"/>
                    <a:ext cx="159" cy="2626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Rectangles 31"/>
                  <p:cNvSpPr/>
                  <p:nvPr/>
                </p:nvSpPr>
                <p:spPr>
                  <a:xfrm>
                    <a:off x="10954" y="4459"/>
                    <a:ext cx="120" cy="148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42" name="Picture 41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919" y="6896"/>
                  <a:ext cx="1215" cy="1200"/>
                </a:xfrm>
                <a:prstGeom prst="rect">
                  <a:avLst/>
                </a:prstGeom>
              </p:spPr>
            </p:pic>
            <p:cxnSp>
              <p:nvCxnSpPr>
                <p:cNvPr id="43" name="Straight Arrow Connector 42"/>
                <p:cNvCxnSpPr>
                  <a:stCxn id="3" idx="3"/>
                  <a:endCxn id="15" idx="2"/>
                </p:cNvCxnSpPr>
                <p:nvPr/>
              </p:nvCxnSpPr>
              <p:spPr>
                <a:xfrm>
                  <a:off x="4134" y="5400"/>
                  <a:ext cx="107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/>
                <p:cNvCxnSpPr>
                  <a:stCxn id="15" idx="0"/>
                  <a:endCxn id="19" idx="1"/>
                </p:cNvCxnSpPr>
                <p:nvPr/>
              </p:nvCxnSpPr>
              <p:spPr>
                <a:xfrm>
                  <a:off x="6855" y="5401"/>
                  <a:ext cx="6811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5" name="Group 44"/>
                <p:cNvGrpSpPr/>
                <p:nvPr/>
              </p:nvGrpSpPr>
              <p:grpSpPr>
                <a:xfrm>
                  <a:off x="9445" y="3889"/>
                  <a:ext cx="1398" cy="3022"/>
                  <a:chOff x="10873" y="3895"/>
                  <a:chExt cx="1398" cy="3022"/>
                </a:xfrm>
              </p:grpSpPr>
              <p:sp>
                <p:nvSpPr>
                  <p:cNvPr id="46" name="Parallelogram 45"/>
                  <p:cNvSpPr/>
                  <p:nvPr/>
                </p:nvSpPr>
                <p:spPr>
                  <a:xfrm rot="16200000" flipV="1">
                    <a:off x="9561" y="5207"/>
                    <a:ext cx="3022" cy="399"/>
                  </a:xfrm>
                  <a:prstGeom prst="parallelogram">
                    <a:avLst>
                      <a:gd name="adj" fmla="val 211152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Parallelogram 46"/>
                  <p:cNvSpPr/>
                  <p:nvPr/>
                </p:nvSpPr>
                <p:spPr>
                  <a:xfrm rot="16200000" flipV="1">
                    <a:off x="9761" y="5207"/>
                    <a:ext cx="3022" cy="399"/>
                  </a:xfrm>
                  <a:prstGeom prst="parallelogram">
                    <a:avLst>
                      <a:gd name="adj" fmla="val 211152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48" name="Parallelogram 47"/>
                  <p:cNvSpPr/>
                  <p:nvPr/>
                </p:nvSpPr>
                <p:spPr>
                  <a:xfrm rot="16200000" flipV="1">
                    <a:off x="9961" y="5207"/>
                    <a:ext cx="3022" cy="399"/>
                  </a:xfrm>
                  <a:prstGeom prst="parallelogram">
                    <a:avLst>
                      <a:gd name="adj" fmla="val 211152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49" name="Parallelogram 48"/>
                  <p:cNvSpPr/>
                  <p:nvPr/>
                </p:nvSpPr>
                <p:spPr>
                  <a:xfrm rot="16200000" flipV="1">
                    <a:off x="10161" y="5207"/>
                    <a:ext cx="3022" cy="399"/>
                  </a:xfrm>
                  <a:prstGeom prst="parallelogram">
                    <a:avLst>
                      <a:gd name="adj" fmla="val 211152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50" name="Parallelogram 49"/>
                  <p:cNvSpPr/>
                  <p:nvPr/>
                </p:nvSpPr>
                <p:spPr>
                  <a:xfrm rot="16200000" flipV="1">
                    <a:off x="10361" y="5207"/>
                    <a:ext cx="3022" cy="399"/>
                  </a:xfrm>
                  <a:prstGeom prst="parallelogram">
                    <a:avLst>
                      <a:gd name="adj" fmla="val 211152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51" name="Parallelogram 50"/>
                  <p:cNvSpPr/>
                  <p:nvPr/>
                </p:nvSpPr>
                <p:spPr>
                  <a:xfrm rot="16200000" flipV="1">
                    <a:off x="10561" y="5207"/>
                    <a:ext cx="3022" cy="399"/>
                  </a:xfrm>
                  <a:prstGeom prst="parallelogram">
                    <a:avLst>
                      <a:gd name="adj" fmla="val 211152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2" name="Rectangles 51"/>
                    <p:cNvSpPr/>
                    <p:nvPr/>
                  </p:nvSpPr>
                  <p:spPr>
                    <a:xfrm>
                      <a:off x="9340" y="8096"/>
                      <a:ext cx="504" cy="504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𝑐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1000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endParaRPr>
                    </a:p>
                  </p:txBody>
                </p:sp>
              </mc:Choice>
              <mc:Fallback>
                <p:sp>
                  <p:nvSpPr>
                    <p:cNvPr id="52" name="Rectangles 5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40" y="8096"/>
                      <a:ext cx="504" cy="504"/>
                    </a:xfrm>
                    <a:prstGeom prst="rect">
                      <a:avLst/>
                    </a:prstGeom>
                    <a:blipFill rotWithShape="1">
                      <a:blip r:embed="rId3"/>
                    </a:blip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3" name="Rectangles 52"/>
                    <p:cNvSpPr/>
                    <p:nvPr/>
                  </p:nvSpPr>
                  <p:spPr>
                    <a:xfrm>
                      <a:off x="8861" y="8096"/>
                      <a:ext cx="504" cy="504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𝑐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1000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endParaRPr>
                    </a:p>
                  </p:txBody>
                </p:sp>
              </mc:Choice>
              <mc:Fallback>
                <p:sp>
                  <p:nvSpPr>
                    <p:cNvPr id="53" name="Rectangles 5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61" y="8096"/>
                      <a:ext cx="504" cy="504"/>
                    </a:xfrm>
                    <a:prstGeom prst="rect">
                      <a:avLst/>
                    </a:prstGeom>
                    <a:blipFill rotWithShape="1">
                      <a:blip r:embed="rId4"/>
                    </a:blip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4" name="Rectangles 53"/>
                <p:cNvSpPr/>
                <p:nvPr/>
              </p:nvSpPr>
              <p:spPr>
                <a:xfrm>
                  <a:off x="9819" y="8096"/>
                  <a:ext cx="504" cy="504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sz="900" i="1">
                    <a:solidFill>
                      <a:schemeClr val="tx1"/>
                    </a:solidFill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  <p:sp>
              <p:nvSpPr>
                <p:cNvPr id="55" name="Rectangles 54"/>
                <p:cNvSpPr/>
                <p:nvPr/>
              </p:nvSpPr>
              <p:spPr>
                <a:xfrm>
                  <a:off x="10298" y="8096"/>
                  <a:ext cx="504" cy="504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6" name="Rectangles 55"/>
                    <p:cNvSpPr/>
                    <p:nvPr/>
                  </p:nvSpPr>
                  <p:spPr>
                    <a:xfrm>
                      <a:off x="10777" y="8096"/>
                      <a:ext cx="504" cy="504"/>
                    </a:xfrm>
                    <a:prstGeom prst="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1000" i="1">
                                    <a:solidFill>
                                      <a:schemeClr val="tx1"/>
                                    </a:solidFill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𝑐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1000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endParaRPr>
                    </a:p>
                  </p:txBody>
                </p:sp>
              </mc:Choice>
              <mc:Fallback>
                <p:sp>
                  <p:nvSpPr>
                    <p:cNvPr id="56" name="Rectangles 5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77" y="8096"/>
                      <a:ext cx="504" cy="504"/>
                    </a:xfrm>
                    <a:prstGeom prst="rect">
                      <a:avLst/>
                    </a:prstGeom>
                    <a:blipFill rotWithShape="1">
                      <a:blip r:embed="rId5"/>
                    </a:blip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7" name="Straight Connector 56"/>
                <p:cNvCxnSpPr>
                  <a:stCxn id="47" idx="5"/>
                  <a:endCxn id="53" idx="0"/>
                </p:cNvCxnSpPr>
                <p:nvPr/>
              </p:nvCxnSpPr>
              <p:spPr>
                <a:xfrm flipH="1">
                  <a:off x="9113" y="6490"/>
                  <a:ext cx="731" cy="1606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>
                  <a:endCxn id="56" idx="0"/>
                </p:cNvCxnSpPr>
                <p:nvPr/>
              </p:nvCxnSpPr>
              <p:spPr>
                <a:xfrm>
                  <a:off x="10448" y="6553"/>
                  <a:ext cx="581" cy="1543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9" name="Group 58"/>
                <p:cNvGrpSpPr/>
                <p:nvPr/>
              </p:nvGrpSpPr>
              <p:grpSpPr>
                <a:xfrm>
                  <a:off x="6510" y="8017"/>
                  <a:ext cx="768" cy="768"/>
                  <a:chOff x="6231" y="8011"/>
                  <a:chExt cx="768" cy="768"/>
                </a:xfrm>
              </p:grpSpPr>
              <p:sp>
                <p:nvSpPr>
                  <p:cNvPr id="60" name="Oval 59"/>
                  <p:cNvSpPr/>
                  <p:nvPr/>
                </p:nvSpPr>
                <p:spPr>
                  <a:xfrm>
                    <a:off x="6231" y="8011"/>
                    <a:ext cx="769" cy="769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cxnSp>
                <p:nvCxnSpPr>
                  <p:cNvPr id="61" name="Elbow Connector 60"/>
                  <p:cNvCxnSpPr/>
                  <p:nvPr/>
                </p:nvCxnSpPr>
                <p:spPr>
                  <a:xfrm>
                    <a:off x="6337" y="8171"/>
                    <a:ext cx="557" cy="397"/>
                  </a:xfrm>
                  <a:prstGeom prst="bentConnector3">
                    <a:avLst>
                      <a:gd name="adj1" fmla="val 50090"/>
                    </a:avLst>
                  </a:prstGeom>
                  <a:ln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2" name="Curved Connector 61"/>
                <p:cNvCxnSpPr>
                  <a:stCxn id="53" idx="2"/>
                  <a:endCxn id="60" idx="4"/>
                </p:cNvCxnSpPr>
                <p:nvPr/>
              </p:nvCxnSpPr>
              <p:spPr>
                <a:xfrm rot="5400000">
                  <a:off x="7911" y="7584"/>
                  <a:ext cx="186" cy="2218"/>
                </a:xfrm>
                <a:prstGeom prst="curvedConnector3">
                  <a:avLst>
                    <a:gd name="adj1" fmla="val 177419"/>
                  </a:avLst>
                </a:prstGeom>
                <a:ln>
                  <a:solidFill>
                    <a:schemeClr val="tx1"/>
                  </a:solidFill>
                  <a:prstDash val="dash"/>
                  <a:tailEnd type="stealth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Curved Connector 62"/>
                <p:cNvCxnSpPr>
                  <a:stCxn id="56" idx="2"/>
                  <a:endCxn id="60" idx="4"/>
                </p:cNvCxnSpPr>
                <p:nvPr/>
              </p:nvCxnSpPr>
              <p:spPr>
                <a:xfrm rot="5400000">
                  <a:off x="8869" y="6626"/>
                  <a:ext cx="186" cy="4134"/>
                </a:xfrm>
                <a:prstGeom prst="curvedConnector3">
                  <a:avLst>
                    <a:gd name="adj1" fmla="val 287096"/>
                  </a:avLst>
                </a:prstGeom>
                <a:ln>
                  <a:solidFill>
                    <a:schemeClr val="tx1"/>
                  </a:solidFill>
                  <a:prstDash val="dash"/>
                  <a:tailEnd type="stealth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Curved Connector 63"/>
                <p:cNvCxnSpPr>
                  <a:stCxn id="60" idx="0"/>
                  <a:endCxn id="42" idx="3"/>
                </p:cNvCxnSpPr>
                <p:nvPr/>
              </p:nvCxnSpPr>
              <p:spPr>
                <a:xfrm rot="16200000" flipV="1">
                  <a:off x="5253" y="6376"/>
                  <a:ext cx="521" cy="2761"/>
                </a:xfrm>
                <a:prstGeom prst="curvedConnector2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Curved Connector 64"/>
                <p:cNvCxnSpPr>
                  <a:stCxn id="52" idx="2"/>
                  <a:endCxn id="60" idx="4"/>
                </p:cNvCxnSpPr>
                <p:nvPr/>
              </p:nvCxnSpPr>
              <p:spPr>
                <a:xfrm rot="5400000">
                  <a:off x="8150" y="7344"/>
                  <a:ext cx="186" cy="2697"/>
                </a:xfrm>
                <a:prstGeom prst="curvedConnector3">
                  <a:avLst>
                    <a:gd name="adj1" fmla="val 235752"/>
                  </a:avLst>
                </a:prstGeom>
                <a:ln>
                  <a:solidFill>
                    <a:schemeClr val="tx1"/>
                  </a:solidFill>
                  <a:prstDash val="dash"/>
                  <a:tailEnd type="stealth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>
                  <a:endCxn id="52" idx="0"/>
                </p:cNvCxnSpPr>
                <p:nvPr/>
              </p:nvCxnSpPr>
              <p:spPr>
                <a:xfrm flipH="1">
                  <a:off x="9592" y="6450"/>
                  <a:ext cx="421" cy="1646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Text Box 66"/>
                <p:cNvSpPr txBox="1"/>
                <p:nvPr/>
              </p:nvSpPr>
              <p:spPr>
                <a:xfrm>
                  <a:off x="8823" y="2929"/>
                  <a:ext cx="2442" cy="8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sz="1000"/>
                    <a:t>Rectified Conv Feature Maps</a:t>
                  </a:r>
                  <a:endParaRPr lang="en-US" sz="1000"/>
                </a:p>
              </p:txBody>
            </p:sp>
            <p:sp>
              <p:nvSpPr>
                <p:cNvPr id="68" name="Text Box 67"/>
                <p:cNvSpPr txBox="1"/>
                <p:nvPr/>
              </p:nvSpPr>
              <p:spPr>
                <a:xfrm>
                  <a:off x="13331" y="3725"/>
                  <a:ext cx="1595" cy="5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sz="1000"/>
                    <a:t>FC Layers</a:t>
                  </a:r>
                  <a:endParaRPr lang="en-US" sz="1000"/>
                </a:p>
              </p:txBody>
            </p:sp>
          </p:grpSp>
          <p:cxnSp>
            <p:nvCxnSpPr>
              <p:cNvPr id="71" name="Curved Connector 70"/>
              <p:cNvCxnSpPr>
                <a:stCxn id="32" idx="0"/>
                <a:endCxn id="50" idx="2"/>
              </p:cNvCxnSpPr>
              <p:nvPr/>
            </p:nvCxnSpPr>
            <p:spPr>
              <a:xfrm rot="16200000" flipV="1">
                <a:off x="12133" y="2621"/>
                <a:ext cx="671" cy="4050"/>
              </a:xfrm>
              <a:prstGeom prst="curvedConnector3">
                <a:avLst>
                  <a:gd name="adj1" fmla="val 166393"/>
                </a:avLst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Text Box 73"/>
          <p:cNvSpPr txBox="1"/>
          <p:nvPr/>
        </p:nvSpPr>
        <p:spPr>
          <a:xfrm>
            <a:off x="818515" y="1836420"/>
            <a:ext cx="453136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>
                <a:sym typeface="+mn-ea"/>
              </a:rPr>
              <a:t>Áp dụng GradCAM [9] để giải thích mô hình sau quá trình thích ứng nhanh.</a:t>
            </a:r>
            <a:endParaRPr lang="en-US" sz="1600">
              <a:sym typeface="+mn-ea"/>
            </a:endParaRPr>
          </a:p>
          <a:p>
            <a:r>
              <a:rPr lang="vi-VN" sz="1600" b="1" i="1" u="sng">
                <a:sym typeface="+mn-ea"/>
              </a:rPr>
              <a:t>Hạn chế:</a:t>
            </a:r>
            <a:r>
              <a:rPr lang="vi-VN" sz="1600" i="1">
                <a:sym typeface="+mn-ea"/>
              </a:rPr>
              <a:t> </a:t>
            </a:r>
            <a:r>
              <a:rPr lang="vi-VN" sz="1600">
                <a:sym typeface="+mn-ea"/>
              </a:rPr>
              <a:t>chỉ trích xuất tại một trạng thái tham số tĩnh (sau hội tụ</a:t>
            </a:r>
            <a:r>
              <a:rPr lang="en-US" altLang="vi-VN" sz="1600">
                <a:sym typeface="+mn-ea"/>
              </a:rPr>
              <a:t> [10]</a:t>
            </a:r>
            <a:r>
              <a:rPr lang="vi-VN" sz="1600">
                <a:sym typeface="+mn-ea"/>
              </a:rPr>
              <a:t>) → không giải phẫu được động lực học của fast-adaptation</a:t>
            </a:r>
            <a:endParaRPr lang="vi-VN" sz="1600"/>
          </a:p>
          <a:p>
            <a:endParaRPr lang="en-US" sz="160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Box MetaTrain"/>
              <p:cNvSpPr/>
              <p:nvPr/>
            </p:nvSpPr>
            <p:spPr>
              <a:xfrm>
                <a:off x="700000" y="4640920"/>
                <a:ext cx="1600000" cy="900000"/>
              </a:xfrm>
              <a:prstGeom prst="roundRect">
                <a:avLst/>
              </a:prstGeom>
              <a:solidFill>
                <a:srgbClr val="DEEBF7"/>
              </a:solidFill>
              <a:ln w="12700">
                <a:solidFill>
                  <a:srgbClr val="4472C4"/>
                </a:solidFill>
              </a:ln>
            </p:spPr>
            <p:txBody>
              <a:bodyPr wrap="square" lIns="45720" tIns="27432" rIns="45720" bIns="27432" anchor="ctr">
                <a:normAutofit/>
              </a:bodyPr>
              <a:p>
                <a:pPr algn="ctr"/>
                <a:r>
                  <a:rPr lang="vi-VN" sz="1000"/>
                  <a:t>Meta-train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vi-VN" sz="1000">
                        <a:latin typeface="DejaVu Math TeX Gyre" panose="02000503000000000000" charset="0"/>
                        <a:cs typeface="DejaVu Math TeX Gyre" panose="02000503000000000000" charset="0"/>
                      </a:rPr>
                      <m:t>θ</m:t>
                    </m:r>
                    <m:r>
                      <a:rPr lang="en-US" altLang="vi-VN" sz="1000">
                        <a:latin typeface="DejaVu Math TeX Gyre" panose="02000503000000000000" charset="0"/>
                        <a:cs typeface="DejaVu Math TeX Gyre" panose="02000503000000000000" charset="0"/>
                      </a:rPr>
                      <m:t>→</m:t>
                    </m:r>
                    <m:sSub>
                      <m:sSubPr>
                        <m:ctrlPr>
                          <a:rPr lang="en-US" altLang="vi-VN" sz="1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vi-VN" sz="1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𝜃</m:t>
                        </m:r>
                      </m:e>
                      <m:sub>
                        <m:r>
                          <a:rPr lang="en-US" altLang="vi-VN" sz="1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</m:oMath>
                </a14:m>
                <a:endParaRPr lang="vi-VN" sz="1000"/>
              </a:p>
              <a:p>
                <a:pPr algn="ctr">
                  <a:spcBef>
                    <a:spcPts val="200"/>
                  </a:spcBef>
                </a:pPr>
                <a:r>
                  <a:rPr lang="vi-VN" sz="1000"/>
                  <a:t>(mini-ImageNet</a:t>
                </a:r>
                <a:endParaRPr lang="vi-VN" sz="1000"/>
              </a:p>
              <a:p>
                <a:pPr algn="ctr">
                  <a:spcBef>
                    <a:spcPts val="200"/>
                  </a:spcBef>
                </a:pPr>
                <a:r>
                  <a:rPr lang="vi-VN" sz="1000"/>
                  <a:t>10-way 3-shot)</a:t>
                </a:r>
                <a:endParaRPr lang="vi-VN" sz="1000"/>
              </a:p>
            </p:txBody>
          </p:sp>
        </mc:Choice>
        <mc:Fallback>
          <p:sp>
            <p:nvSpPr>
              <p:cNvPr id="201" name="Box MetaTrai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00" y="4640920"/>
                <a:ext cx="1600000" cy="900000"/>
              </a:xfrm>
              <a:prstGeom prst="roundRect">
                <a:avLst/>
              </a:prstGeom>
              <a:blipFill rotWithShape="1">
                <a:blip r:embed="rId6"/>
                <a:stretch>
                  <a:fillRect l="-411" t="-743" r="-395" b="-645"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Box TestAdapt"/>
          <p:cNvSpPr/>
          <p:nvPr/>
        </p:nvSpPr>
        <p:spPr>
          <a:xfrm>
            <a:off x="3000000" y="4640920"/>
            <a:ext cx="1600000" cy="9000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4472C4"/>
            </a:solidFill>
          </a:ln>
        </p:spPr>
        <p:txBody>
          <a:bodyPr wrap="square" lIns="45720" tIns="27432" rIns="45720" bIns="27432" anchor="ctr">
            <a:normAutofit/>
          </a:bodyPr>
          <a:p>
            <a:pPr algn="ctr"/>
            <a:r>
              <a:rPr lang="vi-VN" sz="1000"/>
              <a:t>Test-time adapt</a:t>
            </a:r>
            <a:endParaRPr lang="vi-VN" sz="1000"/>
          </a:p>
          <a:p>
            <a:pPr algn="ctr">
              <a:spcBef>
                <a:spcPts val="200"/>
              </a:spcBef>
            </a:pPr>
            <a:r>
              <a:rPr lang="vi-VN" sz="1000"/>
              <a:t>(CUB</a:t>
            </a:r>
            <a:endParaRPr lang="vi-VN" sz="1000"/>
          </a:p>
          <a:p>
            <a:pPr algn="ctr">
              <a:spcBef>
                <a:spcPts val="200"/>
              </a:spcBef>
            </a:pPr>
            <a:r>
              <a:rPr lang="vi-VN" sz="1000"/>
              <a:t>5-way 1-shot)</a:t>
            </a:r>
            <a:endParaRPr lang="vi-VN" sz="1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Box Frozen"/>
              <p:cNvSpPr/>
              <p:nvPr/>
            </p:nvSpPr>
            <p:spPr>
              <a:xfrm>
                <a:off x="5300000" y="4640920"/>
                <a:ext cx="1600000" cy="900000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rgbClr val="808080"/>
                </a:solidFill>
                <a:prstDash val="dash"/>
              </a:ln>
            </p:spPr>
            <p:txBody>
              <a:bodyPr wrap="square" lIns="45720" tIns="27432" rIns="45720" bIns="27432" anchor="ctr">
                <a:normAutofit/>
              </a:bodyPr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vi-VN" sz="1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altLang="vi-VN" sz="1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∅</m:t>
                        </m:r>
                      </m:e>
                      <m:sub>
                        <m:r>
                          <a:rPr lang="en-US" altLang="vi-VN" sz="1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  <m:sup>
                        <m:r>
                          <a:rPr lang="en-US" altLang="vi-VN" sz="1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vi-VN" sz="1000"/>
                  <a:t> — đóng băng</a:t>
                </a:r>
                <a:endParaRPr lang="vi-VN" sz="1000"/>
              </a:p>
              <a:p>
                <a:pPr algn="ctr">
                  <a:spcBef>
                    <a:spcPts val="200"/>
                  </a:spcBef>
                </a:pPr>
                <a:r>
                  <a:rPr lang="vi-VN" sz="1000"/>
                  <a:t>(1 trạng thái</a:t>
                </a:r>
                <a:endParaRPr lang="vi-VN" sz="1000"/>
              </a:p>
              <a:p>
                <a:pPr algn="ctr">
                  <a:spcBef>
                    <a:spcPts val="200"/>
                  </a:spcBef>
                </a:pPr>
                <a:r>
                  <a:rPr lang="vi-VN" sz="1000"/>
                  <a:t>tham số tĩnh)</a:t>
                </a:r>
                <a:endParaRPr lang="vi-VN" sz="1000"/>
              </a:p>
            </p:txBody>
          </p:sp>
        </mc:Choice>
        <mc:Fallback>
          <p:sp>
            <p:nvSpPr>
              <p:cNvPr id="203" name="Box Froz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000" y="4640920"/>
                <a:ext cx="1600000" cy="900000"/>
              </a:xfrm>
              <a:prstGeom prst="roundRect">
                <a:avLst/>
              </a:prstGeom>
              <a:blipFill rotWithShape="1">
                <a:blip r:embed="rId7"/>
                <a:stretch>
                  <a:fillRect l="-415" t="-743" r="-391" b="-645"/>
                </a:stretch>
              </a:blipFill>
              <a:ln w="12700">
                <a:solidFill>
                  <a:srgbClr val="808080"/>
                </a:solidFill>
                <a:prstDash val="dash"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Box GradCAM"/>
          <p:cNvSpPr/>
          <p:nvPr/>
        </p:nvSpPr>
        <p:spPr>
          <a:xfrm>
            <a:off x="7600000" y="4640920"/>
            <a:ext cx="1600000" cy="90000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</p:spPr>
        <p:txBody>
          <a:bodyPr wrap="square" lIns="45720" tIns="27432" rIns="45720" bIns="27432" anchor="ctr">
            <a:normAutofit/>
          </a:bodyPr>
          <a:p>
            <a:pPr algn="ctr"/>
            <a:r>
              <a:rPr lang="vi-VN" sz="1000"/>
              <a:t>GradCAM</a:t>
            </a:r>
            <a:endParaRPr lang="vi-VN" sz="1000"/>
          </a:p>
          <a:p>
            <a:pPr algn="ctr">
              <a:spcBef>
                <a:spcPts val="200"/>
              </a:spcBef>
            </a:pPr>
            <a:r>
              <a:rPr lang="vi-VN" sz="1000"/>
              <a:t>(áp dụng</a:t>
            </a:r>
            <a:endParaRPr lang="vi-VN" sz="1000"/>
          </a:p>
          <a:p>
            <a:pPr algn="ctr">
              <a:spcBef>
                <a:spcPts val="200"/>
              </a:spcBef>
            </a:pPr>
            <a:r>
              <a:rPr lang="vi-VN" sz="1000"/>
              <a:t>1 lần duy nhất)</a:t>
            </a:r>
            <a:endParaRPr lang="vi-VN" sz="1000"/>
          </a:p>
        </p:txBody>
      </p:sp>
      <p:sp>
        <p:nvSpPr>
          <p:cNvPr id="205" name="Box Heatmap"/>
          <p:cNvSpPr/>
          <p:nvPr/>
        </p:nvSpPr>
        <p:spPr>
          <a:xfrm>
            <a:off x="9900000" y="4640920"/>
            <a:ext cx="1600000" cy="900000"/>
          </a:xfrm>
          <a:prstGeom prst="round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</p:spPr>
        <p:txBody>
          <a:bodyPr wrap="square" lIns="45720" tIns="27432" rIns="45720" bIns="27432" anchor="ctr">
            <a:normAutofit/>
          </a:bodyPr>
          <a:p>
            <a:pPr algn="ctr"/>
            <a:r>
              <a:rPr lang="vi-VN" sz="1000"/>
              <a:t>Heatmap</a:t>
            </a:r>
            <a:endParaRPr lang="vi-VN" sz="1000"/>
          </a:p>
        </p:txBody>
      </p:sp>
      <p:cxnSp>
        <p:nvCxnSpPr>
          <p:cNvPr id="210" name="Arrow0"/>
          <p:cNvCxnSpPr/>
          <p:nvPr/>
        </p:nvCxnSpPr>
        <p:spPr>
          <a:xfrm>
            <a:off x="2300000" y="5090920"/>
            <a:ext cx="700000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txBody>
          <a:bodyPr/>
          <a:p>
            <a:endParaRPr lang="en-US"/>
          </a:p>
        </p:txBody>
      </p:cxnSp>
      <p:cxnSp>
        <p:nvCxnSpPr>
          <p:cNvPr id="211" name="Arrow1"/>
          <p:cNvCxnSpPr/>
          <p:nvPr/>
        </p:nvCxnSpPr>
        <p:spPr>
          <a:xfrm>
            <a:off x="4600000" y="5090920"/>
            <a:ext cx="700000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txBody>
          <a:bodyPr/>
          <a:p>
            <a:endParaRPr lang="en-US"/>
          </a:p>
        </p:txBody>
      </p:cxnSp>
      <p:cxnSp>
        <p:nvCxnSpPr>
          <p:cNvPr id="212" name="Arrow2"/>
          <p:cNvCxnSpPr/>
          <p:nvPr/>
        </p:nvCxnSpPr>
        <p:spPr>
          <a:xfrm>
            <a:off x="6900000" y="5090920"/>
            <a:ext cx="700000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txBody>
          <a:bodyPr/>
          <a:p>
            <a:endParaRPr lang="en-US"/>
          </a:p>
        </p:txBody>
      </p:cxnSp>
      <p:cxnSp>
        <p:nvCxnSpPr>
          <p:cNvPr id="213" name="Arrow3"/>
          <p:cNvCxnSpPr/>
          <p:nvPr/>
        </p:nvCxnSpPr>
        <p:spPr>
          <a:xfrm>
            <a:off x="9200000" y="5090920"/>
            <a:ext cx="700000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txBody>
          <a:bodyPr/>
          <a:p>
            <a:endParaRPr lang="en-US"/>
          </a:p>
        </p:txBody>
      </p:cxnSp>
      <p:sp>
        <p:nvSpPr>
          <p:cNvPr id="75" name="Text Box 74"/>
          <p:cNvSpPr txBox="1"/>
          <p:nvPr/>
        </p:nvSpPr>
        <p:spPr>
          <a:xfrm>
            <a:off x="3111500" y="5722620"/>
            <a:ext cx="695325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800"/>
              <a:t>Hình 4: Sơ đồ cách thức mà Open-MAML thực hiện.</a:t>
            </a:r>
            <a:endParaRPr lang="en-US" sz="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3. Phương pháp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231900" y="4801870"/>
            <a:ext cx="9256395" cy="1634490"/>
            <a:chOff x="1940" y="7562"/>
            <a:chExt cx="14577" cy="2574"/>
          </a:xfrm>
        </p:grpSpPr>
        <p:grpSp>
          <p:nvGrpSpPr>
            <p:cNvPr id="6" name="Group 5"/>
            <p:cNvGrpSpPr/>
            <p:nvPr/>
          </p:nvGrpSpPr>
          <p:grpSpPr>
            <a:xfrm>
              <a:off x="1940" y="8192"/>
              <a:ext cx="9251" cy="752"/>
              <a:chOff x="4974" y="7717"/>
              <a:chExt cx="9251" cy="75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Text Box 4"/>
                  <p:cNvSpPr txBox="1"/>
                  <p:nvPr/>
                </p:nvSpPr>
                <p:spPr>
                  <a:xfrm>
                    <a:off x="4974" y="7717"/>
                    <a:ext cx="9251" cy="7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14:m>
                      <m:oMath xmlns:m="http://schemas.openxmlformats.org/officeDocument/2006/math"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∆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𝑀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𝒯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𝑓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𝑇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a14:m>
                    <a:r>
                      <a:rPr lang="en-US"/>
                      <a:t> </a:t>
                    </a:r>
                    <a:endParaRPr lang="en-US"/>
                  </a:p>
                </p:txBody>
              </p:sp>
            </mc:Choice>
            <mc:Fallback>
              <p:sp>
                <p:nvSpPr>
                  <p:cNvPr id="5" name="Text Box 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74" y="7717"/>
                    <a:ext cx="9251" cy="752"/>
                  </a:xfrm>
                  <a:prstGeom prst="rect">
                    <a:avLst/>
                  </a:prstGeom>
                  <a:blipFill rotWithShape="1">
                    <a:blip r:embed="rId1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Arrow Connector 17"/>
              <p:cNvCxnSpPr/>
              <p:nvPr/>
            </p:nvCxnSpPr>
            <p:spPr>
              <a:xfrm>
                <a:off x="5202" y="8093"/>
                <a:ext cx="923" cy="0"/>
              </a:xfrm>
              <a:prstGeom prst="straightConnector1">
                <a:avLst/>
              </a:prstGeom>
              <a:ln w="123825" cmpd="dbl">
                <a:solidFill>
                  <a:schemeClr val="tx1">
                    <a:lumMod val="50000"/>
                    <a:lumOff val="50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 Box 6"/>
                <p:cNvSpPr txBox="1"/>
                <p:nvPr/>
              </p:nvSpPr>
              <p:spPr>
                <a:xfrm>
                  <a:off x="11341" y="7717"/>
                  <a:ext cx="5177" cy="1985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 xmlns:m="http://schemas.openxmlformats.org/officeDocument/2006/math"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∆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𝑀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&gt;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</m:oMath>
                  </a14:m>
                  <a:r>
                    <a:rPr lang="en-US" sz="1600"/>
                    <a:t>: chuyển giao tích cực</a:t>
                  </a:r>
                  <a:endParaRPr lang="en-US" sz="1600"/>
                </a:p>
                <a:p>
                  <a:pPr algn="l"/>
                  <a14:m>
                    <m:oMath xmlns:m="http://schemas.openxmlformats.org/officeDocument/2006/math"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∆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𝑀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&lt;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</m:oMath>
                  </a14:m>
                  <a:r>
                    <a:rPr lang="en-US" sz="1600">
                      <a:sym typeface="+mn-ea"/>
                    </a:rPr>
                    <a:t>: chuyển giao tiêu cực</a:t>
                  </a:r>
                  <a:endParaRPr lang="en-US" sz="1600"/>
                </a:p>
                <a:p>
                  <a:pPr algn="l"/>
                  <a14:m>
                    <m:oMath xmlns:m="http://schemas.openxmlformats.org/officeDocument/2006/math"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∆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𝑀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&lt;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</m:oMath>
                  </a14:m>
                  <a:r>
                    <a:rPr lang="en-US" sz="1600"/>
                    <a:t>: chỉ là feature-reuse.</a:t>
                  </a:r>
                  <a:br>
                    <a:rPr lang="en-US" sz="1600"/>
                  </a:br>
                  <a:r>
                    <a:rPr lang="en-US" sz="1400"/>
                    <a:t>	(việc cập nhật không đóng </a:t>
                  </a:r>
                  <a:endParaRPr lang="en-US" sz="1400"/>
                </a:p>
                <a:p>
                  <a:pPr algn="l"/>
                  <a:r>
                    <a:rPr lang="en-US" sz="1400"/>
                    <a:t>	  góp gì thêm)</a:t>
                  </a:r>
                  <a:endParaRPr lang="en-US" sz="1400"/>
                </a:p>
              </p:txBody>
            </p:sp>
          </mc:Choice>
          <mc:Fallback>
            <p:sp>
              <p:nvSpPr>
                <p:cNvPr id="7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1" y="7717"/>
                  <a:ext cx="5177" cy="198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/>
            <p:cNvCxnSpPr/>
            <p:nvPr/>
          </p:nvCxnSpPr>
          <p:spPr>
            <a:xfrm>
              <a:off x="10637" y="7562"/>
              <a:ext cx="0" cy="25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Box 8"/>
          <p:cNvSpPr txBox="1"/>
          <p:nvPr/>
        </p:nvSpPr>
        <p:spPr>
          <a:xfrm>
            <a:off x="829945" y="1426845"/>
            <a:ext cx="10523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Độ lợi thích ứng (Adaptation Gain)</a:t>
            </a:r>
            <a:endParaRPr lang="en-US" b="1"/>
          </a:p>
        </p:txBody>
      </p:sp>
      <p:grpSp>
        <p:nvGrpSpPr>
          <p:cNvPr id="10" name="Group 9"/>
          <p:cNvGrpSpPr/>
          <p:nvPr/>
        </p:nvGrpSpPr>
        <p:grpSpPr>
          <a:xfrm>
            <a:off x="1558925" y="2169795"/>
            <a:ext cx="3401695" cy="791210"/>
            <a:chOff x="2455" y="2937"/>
            <a:chExt cx="5357" cy="1246"/>
          </a:xfrm>
        </p:grpSpPr>
        <p:sp>
          <p:nvSpPr>
            <p:cNvPr id="12" name="Rectangles 11"/>
            <p:cNvSpPr/>
            <p:nvPr/>
          </p:nvSpPr>
          <p:spPr>
            <a:xfrm>
              <a:off x="2455" y="2937"/>
              <a:ext cx="5357" cy="1247"/>
            </a:xfrm>
            <a:prstGeom prst="rect">
              <a:avLst/>
            </a:prstGeom>
            <a:solidFill>
              <a:schemeClr val="bg2"/>
            </a:solidFill>
            <a:ln w="28575" cmpd="sng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 Box 12"/>
                <p:cNvSpPr txBox="1"/>
                <p:nvPr/>
              </p:nvSpPr>
              <p:spPr>
                <a:xfrm>
                  <a:off x="2562" y="3238"/>
                  <a:ext cx="5250" cy="646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𝛼</m:t>
                        </m:r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∅</m:t>
                            </m:r>
                          </m:sub>
                        </m:s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ℒ</m:t>
                        </m:r>
                        <m:d>
                          <m:d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∅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13" name="Text 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" y="3238"/>
                  <a:ext cx="5250" cy="646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14"/>
              <p:cNvSpPr txBox="1"/>
              <p:nvPr/>
            </p:nvSpPr>
            <p:spPr>
              <a:xfrm>
                <a:off x="4589780" y="4398010"/>
                <a:ext cx="3985895" cy="3067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:r>
                  <a:rPr lang="vi-VN" sz="1400">
                    <a:sym typeface="+mn-ea"/>
                  </a:rPr>
                  <a:t>Quỹ đạo thích ứng nhanh</a:t>
                </a:r>
                <a:r>
                  <a:rPr lang="en-US" altLang="vi-VN" sz="1400">
                    <a:sym typeface="+mn-ea"/>
                  </a:rPr>
                  <a:t> qua </a:t>
                </a:r>
                <a14:m>
                  <m:oMath xmlns:m="http://schemas.openxmlformats.org/officeDocument/2006/math">
                    <m:r>
                      <a:rPr lang="en-US" altLang="vi-VN" sz="1400" i="1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𝑇</m:t>
                    </m:r>
                    <m:r>
                      <a:rPr lang="en-US" altLang="vi-VN" sz="1400" i="1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+</m:t>
                    </m:r>
                    <m:r>
                      <a:rPr lang="en-US" altLang="vi-VN" sz="1400" i="1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1</m:t>
                    </m:r>
                  </m:oMath>
                </a14:m>
                <a:r>
                  <a:rPr lang="en-US" altLang="vi-VN" sz="1400">
                    <a:sym typeface="+mn-ea"/>
                  </a:rPr>
                  <a:t> trạng thái.</a:t>
                </a:r>
                <a:endParaRPr lang="en-US" altLang="vi-VN" sz="1400">
                  <a:sym typeface="+mn-ea"/>
                </a:endParaRPr>
              </a:p>
            </p:txBody>
          </p:sp>
        </mc:Choice>
        <mc:Fallback>
          <p:sp>
            <p:nvSpPr>
              <p:cNvPr id="15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780" y="4398010"/>
                <a:ext cx="3985895" cy="3067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2852420" y="3188335"/>
            <a:ext cx="7723505" cy="1196340"/>
            <a:chOff x="4492" y="5021"/>
            <a:chExt cx="12163" cy="188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92" y="5021"/>
              <a:ext cx="11750" cy="188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 Box 15"/>
                <p:cNvSpPr txBox="1"/>
                <p:nvPr/>
              </p:nvSpPr>
              <p:spPr>
                <a:xfrm>
                  <a:off x="15831" y="5524"/>
                  <a:ext cx="824" cy="43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𝑀</m:t>
                        </m:r>
                      </m:oMath>
                    </m:oMathPara>
                  </a14:m>
                  <a:endParaRPr lang="en-US" sz="1200" i="1"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16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31" y="5524"/>
                  <a:ext cx="824" cy="43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3. Phương pháp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829945" y="1426845"/>
            <a:ext cx="1052385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Phân bổ Liên hợp trong Không gian Đặc trưng cho Meta-Learning</a:t>
            </a:r>
            <a:endParaRPr lang="en-US" b="1"/>
          </a:p>
          <a:p>
            <a:r>
              <a:rPr lang="en-US" sz="1600" b="1"/>
              <a:t>(Feature-space Adjoint Meta-Learning Attribution)</a:t>
            </a:r>
            <a:endParaRPr lang="en-US" sz="16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4"/>
              <p:cNvSpPr txBox="1"/>
              <p:nvPr/>
            </p:nvSpPr>
            <p:spPr>
              <a:xfrm>
                <a:off x="829945" y="2237740"/>
                <a:ext cx="4541520" cy="47752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∆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𝑀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𝒯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𝑇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𝑓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5" y="2237740"/>
                <a:ext cx="4541520" cy="4775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155" y="2073910"/>
            <a:ext cx="6048375" cy="970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Box 27"/>
              <p:cNvSpPr txBox="1"/>
              <p:nvPr/>
            </p:nvSpPr>
            <p:spPr>
              <a:xfrm>
                <a:off x="7010400" y="3044190"/>
                <a:ext cx="3143250" cy="3746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∅</m:t>
                          </m:r>
                        </m:e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</m:sub>
                      </m:sSub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∅</m:t>
                          </m:r>
                        </m:e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𝛼</m:t>
                      </m:r>
                      <m:sSub>
                        <m:sSub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𝛻</m:t>
                          </m:r>
                        </m:e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∅</m:t>
                          </m:r>
                        </m:sub>
                      </m:sSub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ℒ</m:t>
                      </m:r>
                      <m:d>
                        <m:d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𝑗</m:t>
                              </m:r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8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3044190"/>
                <a:ext cx="3143250" cy="3746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/>
            </p:nvSpPr>
            <p:spPr>
              <a:xfrm>
                <a:off x="829945" y="3533775"/>
                <a:ext cx="508063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/>
                  <a:t> ảnh hưởng như thế nào đến quá trình thích ứng?</a:t>
                </a:r>
                <a:endParaRPr lang="en-US" sz="1600"/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5" y="3533775"/>
                <a:ext cx="5080635" cy="33718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9"/>
              <p:cNvSpPr txBox="1"/>
              <p:nvPr/>
            </p:nvSpPr>
            <p:spPr>
              <a:xfrm>
                <a:off x="3088005" y="4085590"/>
                <a:ext cx="5273675" cy="841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𝜕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sup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𝛼</m:t>
                          </m:r>
                          <m:f>
                            <m:f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005" y="4085590"/>
                <a:ext cx="5273675" cy="8413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14"/>
              <p:cNvSpPr txBox="1"/>
              <p:nvPr/>
            </p:nvSpPr>
            <p:spPr>
              <a:xfrm>
                <a:off x="1099820" y="4170045"/>
                <a:ext cx="915670" cy="6661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𝜕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∆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𝑀</m:t>
                          </m:r>
                        </m:num>
                        <m:den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5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820" y="4170045"/>
                <a:ext cx="915670" cy="66611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>
            <a:off x="2258695" y="4503420"/>
            <a:ext cx="586105" cy="0"/>
          </a:xfrm>
          <a:prstGeom prst="straightConnector1">
            <a:avLst/>
          </a:prstGeom>
          <a:ln w="123825" cmpd="dbl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Box 15"/>
              <p:cNvSpPr txBox="1"/>
              <p:nvPr/>
            </p:nvSpPr>
            <p:spPr>
              <a:xfrm>
                <a:off x="8361680" y="4310380"/>
                <a:ext cx="1558290" cy="3854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~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𝛰</m:t>
                      </m:r>
                      <m:d>
                        <m:d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6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1680" y="4310380"/>
                <a:ext cx="1558290" cy="38544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3. Phát biểu bài toán và phương pháp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829945" y="1426845"/>
            <a:ext cx="1052385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Phân bổ Liên hợp trong Không gian Đặc trưng cho Meta-Learning</a:t>
            </a:r>
            <a:endParaRPr lang="en-US" b="1"/>
          </a:p>
          <a:p>
            <a:r>
              <a:rPr lang="en-US" sz="1600" b="1"/>
              <a:t>(Feature-space Adjoint Meta-Learning Attribution)</a:t>
            </a:r>
            <a:endParaRPr lang="en-US" sz="1600" b="1"/>
          </a:p>
        </p:txBody>
      </p:sp>
      <p:grpSp>
        <p:nvGrpSpPr>
          <p:cNvPr id="10" name="Group 9"/>
          <p:cNvGrpSpPr/>
          <p:nvPr/>
        </p:nvGrpSpPr>
        <p:grpSpPr>
          <a:xfrm>
            <a:off x="5929630" y="2611120"/>
            <a:ext cx="4476750" cy="889000"/>
            <a:chOff x="5612" y="4137"/>
            <a:chExt cx="9249" cy="1050"/>
          </a:xfrm>
        </p:grpSpPr>
        <p:sp>
          <p:nvSpPr>
            <p:cNvPr id="8" name="Freeform 7"/>
            <p:cNvSpPr/>
            <p:nvPr/>
          </p:nvSpPr>
          <p:spPr>
            <a:xfrm>
              <a:off x="5612" y="4137"/>
              <a:ext cx="9200" cy="1050"/>
            </a:xfrm>
            <a:custGeom>
              <a:avLst/>
              <a:gdLst>
                <a:gd name="connisteX0" fmla="*/ 0 w 5842000"/>
                <a:gd name="connsiteY0" fmla="*/ 634424 h 666697"/>
                <a:gd name="connisteX1" fmla="*/ 1412875 w 5842000"/>
                <a:gd name="connsiteY1" fmla="*/ 59 h 666697"/>
                <a:gd name="connisteX2" fmla="*/ 3142615 w 5842000"/>
                <a:gd name="connsiteY2" fmla="*/ 666174 h 666697"/>
                <a:gd name="connisteX3" fmla="*/ 4270375 w 5842000"/>
                <a:gd name="connsiteY3" fmla="*/ 95309 h 666697"/>
                <a:gd name="connisteX4" fmla="*/ 5842000 w 5842000"/>
                <a:gd name="connsiteY4" fmla="*/ 254059 h 66669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5842000" h="666698">
                  <a:moveTo>
                    <a:pt x="0" y="634425"/>
                  </a:moveTo>
                  <a:cubicBezTo>
                    <a:pt x="248285" y="494090"/>
                    <a:pt x="784225" y="-6290"/>
                    <a:pt x="1412875" y="60"/>
                  </a:cubicBezTo>
                  <a:cubicBezTo>
                    <a:pt x="2041525" y="6410"/>
                    <a:pt x="2571115" y="647125"/>
                    <a:pt x="3142615" y="666175"/>
                  </a:cubicBezTo>
                  <a:cubicBezTo>
                    <a:pt x="3714115" y="685225"/>
                    <a:pt x="3730625" y="177860"/>
                    <a:pt x="4270375" y="95310"/>
                  </a:cubicBezTo>
                  <a:cubicBezTo>
                    <a:pt x="4810125" y="12760"/>
                    <a:pt x="5550535" y="210880"/>
                    <a:pt x="5842000" y="25406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cxnSp>
          <p:nvCxnSpPr>
            <p:cNvPr id="9" name="Curved Connector 8"/>
            <p:cNvCxnSpPr>
              <a:stCxn id="8" idx="2"/>
            </p:cNvCxnSpPr>
            <p:nvPr/>
          </p:nvCxnSpPr>
          <p:spPr>
            <a:xfrm flipV="1">
              <a:off x="10561" y="4962"/>
              <a:ext cx="4300" cy="224"/>
            </a:xfrm>
            <a:prstGeom prst="curvedConnector3">
              <a:avLst>
                <a:gd name="adj1" fmla="val 51186"/>
              </a:avLst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11"/>
              <p:cNvSpPr txBox="1"/>
              <p:nvPr/>
            </p:nvSpPr>
            <p:spPr>
              <a:xfrm>
                <a:off x="9335707" y="2418016"/>
                <a:ext cx="69977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2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707" y="2418016"/>
                <a:ext cx="699770" cy="368300"/>
              </a:xfrm>
              <a:prstGeom prst="rect">
                <a:avLst/>
              </a:prstGeom>
              <a:blipFill rotWithShape="1">
                <a:blip r:embed="rId1"/>
                <a:stretch>
                  <a:fillRect l="-82" t="-155" r="82" b="1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2"/>
              <p:cNvSpPr txBox="1"/>
              <p:nvPr/>
            </p:nvSpPr>
            <p:spPr>
              <a:xfrm>
                <a:off x="829945" y="2331720"/>
                <a:ext cx="6080125" cy="45466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:r>
                  <a:rPr sz="1600"/>
                  <a:t>Xét hệ động lực</a:t>
                </a:r>
                <a:r>
                  <a:rPr lang="en-US" sz="160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𝑥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𝑡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 sz="1600"/>
                  <a:t> tiến hoá theo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𝑑𝑥</m:t>
                        </m:r>
                      </m:num>
                      <m:den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𝑑𝑡</m:t>
                        </m:r>
                      </m:den>
                    </m:f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𝑓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((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𝑥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𝑡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),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𝑢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𝑡</m:t>
                    </m:r>
                    <m:r>
                      <a:rPr lang="en-US" sz="1600" i="1">
                        <a:latin typeface="DejaVu Math TeX Gyre" panose="02000503000000000000" charset="0"/>
                        <a:ea typeface="MS Mincho" charset="0"/>
                        <a:cs typeface="DejaVu Math TeX Gyre" panose="02000503000000000000" charset="0"/>
                      </a:rPr>
                      <m:t>))</m:t>
                    </m:r>
                  </m:oMath>
                </a14:m>
                <a:endParaRPr lang="en-US" sz="16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5" y="2331720"/>
                <a:ext cx="6080125" cy="4546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Box 13"/>
              <p:cNvSpPr txBox="1"/>
              <p:nvPr/>
            </p:nvSpPr>
            <p:spPr>
              <a:xfrm>
                <a:off x="10304145" y="2786380"/>
                <a:ext cx="104965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𝛷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4145" y="2786380"/>
                <a:ext cx="1049655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Box 20"/>
              <p:cNvSpPr txBox="1"/>
              <p:nvPr/>
            </p:nvSpPr>
            <p:spPr>
              <a:xfrm>
                <a:off x="829945" y="2915920"/>
                <a:ext cx="4667250" cy="8299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1600" i="1"/>
                  <a:t>Pontryagin định nghĩa biến liên hợp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𝜓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𝑡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 sz="1600" i="1"/>
                  <a:t> sao cho độ nhạy của mục tiêu cuối đối với trạng thái tại thời điểm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𝑡</m:t>
                    </m:r>
                  </m:oMath>
                </a14:m>
                <a:r>
                  <a:rPr lang="en-US" sz="1600" i="1"/>
                  <a:t> bất kỳ</a:t>
                </a:r>
                <a:endParaRPr lang="en-US" sz="1600" i="1"/>
              </a:p>
            </p:txBody>
          </p:sp>
        </mc:Choice>
        <mc:Fallback>
          <p:sp>
            <p:nvSpPr>
              <p:cNvPr id="21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5" y="2915920"/>
                <a:ext cx="4667250" cy="82994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Box 21"/>
              <p:cNvSpPr txBox="1"/>
              <p:nvPr/>
            </p:nvSpPr>
            <p:spPr>
              <a:xfrm>
                <a:off x="1813560" y="3919855"/>
                <a:ext cx="1946910" cy="7239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𝑑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𝜓</m:t>
                          </m:r>
                        </m:num>
                        <m:den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𝜓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2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560" y="3919855"/>
                <a:ext cx="1946910" cy="7239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Box 23"/>
              <p:cNvSpPr txBox="1"/>
              <p:nvPr/>
            </p:nvSpPr>
            <p:spPr>
              <a:xfrm>
                <a:off x="1813560" y="4817745"/>
                <a:ext cx="244856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𝜓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𝛻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𝛷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4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560" y="4817745"/>
                <a:ext cx="2448560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5929630" y="3756025"/>
            <a:ext cx="3543300" cy="2002155"/>
            <a:chOff x="9338" y="6587"/>
            <a:chExt cx="5580" cy="3153"/>
          </a:xfrm>
        </p:grpSpPr>
        <p:cxnSp>
          <p:nvCxnSpPr>
            <p:cNvPr id="25" name="Straight Arrow Connector 24"/>
            <p:cNvCxnSpPr/>
            <p:nvPr/>
          </p:nvCxnSpPr>
          <p:spPr>
            <a:xfrm>
              <a:off x="9338" y="9464"/>
              <a:ext cx="744" cy="0"/>
            </a:xfrm>
            <a:prstGeom prst="straightConnector1">
              <a:avLst/>
            </a:prstGeom>
            <a:ln w="104775" cmpd="dbl">
              <a:solidFill>
                <a:schemeClr val="tx1">
                  <a:lumMod val="50000"/>
                  <a:lumOff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 Box 26"/>
                <p:cNvSpPr txBox="1"/>
                <p:nvPr/>
              </p:nvSpPr>
              <p:spPr>
                <a:xfrm>
                  <a:off x="10522" y="6587"/>
                  <a:ext cx="3704" cy="1176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∅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∅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𝐼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𝛼</m:t>
                        </m:r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27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2" y="6587"/>
                  <a:ext cx="3704" cy="1176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 Box 28"/>
                <p:cNvSpPr txBox="1"/>
                <p:nvPr/>
              </p:nvSpPr>
              <p:spPr>
                <a:xfrm>
                  <a:off x="10522" y="7873"/>
                  <a:ext cx="3576" cy="1157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𝜕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𝑇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∅</m:t>
                                </m:r>
                              </m:e>
                              <m:sub>
                                <m:r>
                                  <a:rPr lang="en-US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29" name="Text 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2" y="7873"/>
                  <a:ext cx="3576" cy="115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 Box 29"/>
                <p:cNvSpPr txBox="1"/>
                <p:nvPr/>
              </p:nvSpPr>
              <p:spPr>
                <a:xfrm>
                  <a:off x="10522" y="9140"/>
                  <a:ext cx="4396" cy="60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=(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𝐼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𝛼</m:t>
                        </m:r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30" name="Text 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2" y="9140"/>
                  <a:ext cx="4396" cy="60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" name="Straight Connector 30"/>
          <p:cNvCxnSpPr/>
          <p:nvPr/>
        </p:nvCxnSpPr>
        <p:spPr>
          <a:xfrm>
            <a:off x="5024120" y="3880485"/>
            <a:ext cx="0" cy="238188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7971155" y="5356860"/>
            <a:ext cx="2655570" cy="998855"/>
            <a:chOff x="12553" y="8436"/>
            <a:chExt cx="4182" cy="1573"/>
          </a:xfrm>
        </p:grpSpPr>
        <p:sp>
          <p:nvSpPr>
            <p:cNvPr id="33" name="Text Box 32"/>
            <p:cNvSpPr txBox="1"/>
            <p:nvPr/>
          </p:nvSpPr>
          <p:spPr>
            <a:xfrm>
              <a:off x="12553" y="9187"/>
              <a:ext cx="236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400"/>
                <a:t>Hessian-vector Product (HVP)</a:t>
              </a:r>
              <a:endParaRPr lang="en-US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 Box 33"/>
                <p:cNvSpPr txBox="1"/>
                <p:nvPr/>
              </p:nvSpPr>
              <p:spPr>
                <a:xfrm>
                  <a:off x="14543" y="8436"/>
                  <a:ext cx="2193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~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𝛰</m:t>
                        </m:r>
                        <m:d>
                          <m:d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𝑃</m:t>
                            </m:r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34" name="Text 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3" y="8436"/>
                  <a:ext cx="2193" cy="580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3. Phương pháp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829945" y="1426845"/>
            <a:ext cx="1052385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Phân bổ Liên hợp trong Không gian Đặc trưng cho Meta-Learning</a:t>
            </a:r>
            <a:endParaRPr lang="en-US" b="1"/>
          </a:p>
          <a:p>
            <a:r>
              <a:rPr lang="en-US" sz="1600" b="1"/>
              <a:t>(Feature-space Adjoint Meta-Learning Attribution)</a:t>
            </a:r>
            <a:endParaRPr lang="en-US" sz="16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2"/>
              <p:cNvSpPr txBox="1"/>
              <p:nvPr/>
            </p:nvSpPr>
            <p:spPr>
              <a:xfrm>
                <a:off x="829945" y="2292350"/>
                <a:ext cx="2835910" cy="5892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box>
                        <m:boxPr>
                          <m:noBreak m:val="on"/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𝑓</m:t>
                                  </m:r>
                                </m:e>
                                <m:sub>
                                  <m:sSubSup>
                                    <m:sSubSupPr>
                                      <m:ctrlPr>
                                        <a:rPr lang="en-US" sz="1600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∅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𝑗</m:t>
                                      </m:r>
                                      <m:r>
                                        <a:rPr lang="en-US" sz="1600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−</m:t>
                                      </m:r>
                                      <m:r>
                                        <a:rPr lang="en-US" sz="1600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𝑏</m:t>
                                      </m:r>
                                    </m:sup>
                                  </m:sSubSup>
                                </m:sub>
                              </m:sSub>
                            </m:e>
                          </m:groupChr>
                        </m:e>
                      </m:box>
                      <m:sSub>
                        <m:sSub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→</m:t>
                      </m:r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ℒ</m:t>
                      </m:r>
                      <m:d>
                        <m:d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5" y="2292350"/>
                <a:ext cx="2835910" cy="58928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Box 13"/>
              <p:cNvSpPr txBox="1"/>
              <p:nvPr/>
            </p:nvSpPr>
            <p:spPr>
              <a:xfrm>
                <a:off x="887730" y="2985135"/>
                <a:ext cx="3902075" cy="6356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Attr</m:t>
                          </m:r>
                        </m:e>
                        <m: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𝑗</m:t>
                              </m:r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∅</m:t>
                              </m:r>
                            </m:sub>
                          </m:sSub>
                          <m:r>
                            <a:rPr lang="en-US" sz="16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∅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𝑗</m:t>
                                  </m:r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−</m:t>
                                  </m:r>
                                  <m:r>
                                    <a:rPr lang="en-US" sz="16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6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30" y="2985135"/>
                <a:ext cx="3902075" cy="63563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829945" y="3819525"/>
            <a:ext cx="3734435" cy="1475740"/>
            <a:chOff x="1068" y="6948"/>
            <a:chExt cx="5881" cy="232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 Box 14"/>
                <p:cNvSpPr txBox="1"/>
                <p:nvPr/>
              </p:nvSpPr>
              <p:spPr>
                <a:xfrm>
                  <a:off x="1398" y="6948"/>
                  <a:ext cx="5551" cy="102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𝑐</m:t>
                            </m:r>
                          </m:sup>
                        </m:sSub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𝐻𝑊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naryPr>
                          <m:sub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𝑚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𝑛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Attr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𝑗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(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𝑐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𝑚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𝑛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1600" i="1"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8" y="6948"/>
                  <a:ext cx="5551" cy="102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 Box 15"/>
                <p:cNvSpPr txBox="1"/>
                <p:nvPr/>
              </p:nvSpPr>
              <p:spPr>
                <a:xfrm>
                  <a:off x="1068" y="7909"/>
                  <a:ext cx="4493" cy="845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CAM</m:t>
                            </m:r>
                          </m:e>
                          <m:sub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(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𝑚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𝑛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naryPr>
                          <m:sub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𝑐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𝑐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𝑗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(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𝑐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𝑚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𝑛</m:t>
                                </m:r>
                                <m: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1600" i="1"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16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8" y="7909"/>
                  <a:ext cx="4493" cy="84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 Box 16"/>
                <p:cNvSpPr txBox="1"/>
                <p:nvPr/>
              </p:nvSpPr>
              <p:spPr>
                <a:xfrm>
                  <a:off x="1307" y="8601"/>
                  <a:ext cx="5444" cy="67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acc>
                              <m:accPr>
                                <m:ctrlPr>
                                  <a:rPr lang="en-US" sz="1600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CAM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DejaVu Math TeX Gyre" panose="02000503000000000000" charset="0"/>
                          </a:rPr>
                          <m:t>Upsample</m:t>
                        </m:r>
                        <m:r>
                          <a:rPr lang="en-US" sz="1600">
                            <a:latin typeface="DejaVu Math TeX Gyre" panose="02000503000000000000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CAM</m:t>
                            </m:r>
                          </m:e>
                          <m:sub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(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𝑚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𝑛</m:t>
                            </m:r>
                            <m:r>
                              <a:rPr lang="en-US" sz="16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)</m:t>
                        </m:r>
                      </m:oMath>
                    </m:oMathPara>
                  </a14:m>
                  <a:endParaRPr lang="en-US" sz="1600" i="1"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17" name="Text 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7" y="8601"/>
                  <a:ext cx="5444" cy="671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7440" y="2205990"/>
            <a:ext cx="7031990" cy="38290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Box 19"/>
              <p:cNvSpPr txBox="1"/>
              <p:nvPr/>
            </p:nvSpPr>
            <p:spPr>
              <a:xfrm>
                <a:off x="1039495" y="5514975"/>
                <a:ext cx="2588260" cy="841375"/>
              </a:xfrm>
              <a:prstGeom prst="rect">
                <a:avLst/>
              </a:prstGeom>
              <a:noFill/>
              <a:ln w="28575" cmpd="thickThin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FAMA</m:t>
                          </m:r>
                        </m:sub>
                      </m:sSub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𝑗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CAM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0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495" y="5514975"/>
                <a:ext cx="2588260" cy="841375"/>
              </a:xfrm>
              <a:prstGeom prst="rect">
                <a:avLst/>
              </a:prstGeom>
              <a:blipFill rotWithShape="1">
                <a:blip r:embed="rId7"/>
                <a:stretch>
                  <a:fillRect l="-564" t="-1736" r="-540" b="-1660"/>
                </a:stretch>
              </a:blipFill>
              <a:ln w="28575" cmpd="thickThin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4. Thực nghiệm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s 5"/>
              <p:cNvSpPr/>
              <p:nvPr/>
            </p:nvSpPr>
            <p:spPr>
              <a:xfrm>
                <a:off x="2693670" y="2409825"/>
                <a:ext cx="1279525" cy="11277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i="1">
                  <a:solidFill>
                    <a:schemeClr val="tx1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6" name="Rectangles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670" y="2409825"/>
                <a:ext cx="1279525" cy="1127760"/>
              </a:xfrm>
              <a:prstGeom prst="rect">
                <a:avLst/>
              </a:prstGeom>
              <a:blipFill rotWithShape="1">
                <a:blip r:embed="rId1"/>
                <a:stretch>
                  <a:fillRect l="-496" t="-563" r="-496" b="-563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s 6"/>
              <p:cNvSpPr/>
              <p:nvPr/>
            </p:nvSpPr>
            <p:spPr>
              <a:xfrm>
                <a:off x="2693670" y="4127500"/>
                <a:ext cx="1279525" cy="11277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i="1">
                  <a:solidFill>
                    <a:schemeClr val="tx1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7" name="Rectangles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670" y="4127500"/>
                <a:ext cx="1279525" cy="1127760"/>
              </a:xfrm>
              <a:prstGeom prst="rect">
                <a:avLst/>
              </a:prstGeom>
              <a:blipFill rotWithShape="1">
                <a:blip r:embed="rId2"/>
                <a:stretch>
                  <a:fillRect l="-496" t="-563" r="-496" b="-563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4714240" y="3756660"/>
            <a:ext cx="11785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3"/>
          </p:cNvCxnSpPr>
          <p:nvPr/>
        </p:nvCxnSpPr>
        <p:spPr>
          <a:xfrm>
            <a:off x="3973195" y="2973705"/>
            <a:ext cx="741045" cy="782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7" idx="3"/>
          </p:cNvCxnSpPr>
          <p:nvPr/>
        </p:nvCxnSpPr>
        <p:spPr>
          <a:xfrm flipH="1">
            <a:off x="3973195" y="3773805"/>
            <a:ext cx="741045" cy="91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rapezoid 11"/>
              <p:cNvSpPr/>
              <p:nvPr/>
            </p:nvSpPr>
            <p:spPr>
              <a:xfrm rot="5400000">
                <a:off x="6035675" y="2830830"/>
                <a:ext cx="1583055" cy="1868805"/>
              </a:xfrm>
              <a:prstGeom prst="trapezoid">
                <a:avLst>
                  <a:gd name="adj" fmla="val 26552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do</m:t>
                      </m:r>
                      <m:r>
                        <a:rPr lang="en-US" sz="1000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e>
                        <m:sub>
                          <m:r>
                            <a:rPr lang="en-US" sz="1000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</m:sSub>
                      <m:r>
                        <a:rPr lang="en-US" sz="1000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1000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  <a:sym typeface="+mn-ea"/>
                        </a:rPr>
                        <m:t>freeze</m:t>
                      </m:r>
                      <m:r>
                        <a:rPr lang="en-US" sz="1000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sSubSup>
                        <m:sSubSupPr>
                          <m:ctrlPr>
                            <a:rPr lang="en-US" sz="1000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e>
                        <m:sub>
                          <m:r>
                            <a:rPr lang="en-US" sz="1000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  <m:sup>
                          <m:r>
                            <a:rPr lang="en-US" sz="1000" i="1">
                              <a:solidFill>
                                <a:schemeClr val="tx1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𝑏</m:t>
                          </m:r>
                        </m:sup>
                      </m:sSubSup>
                      <m:r>
                        <a:rPr lang="en-US" sz="1000" i="1">
                          <a:solidFill>
                            <a:schemeClr val="tx1"/>
                          </a:solidFill>
                          <a:latin typeface="DejaVu Math TeX Gyre" panose="02000503000000000000" charset="0"/>
                          <a:ea typeface="MS Mincho" charset="0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en-US" sz="1000" i="1">
                  <a:solidFill>
                    <a:schemeClr val="tx1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2" name="Trapezoid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035675" y="2830830"/>
                <a:ext cx="1583055" cy="1868805"/>
              </a:xfrm>
              <a:prstGeom prst="trapezoid">
                <a:avLst>
                  <a:gd name="adj" fmla="val 26552"/>
                </a:avLst>
              </a:prstGeom>
              <a:blipFill rotWithShape="1">
                <a:blip r:embed="rId3"/>
                <a:stretch>
                  <a:fillRect l="-9426" t="7204" r="-9426" b="7238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2"/>
              <p:cNvSpPr txBox="1"/>
              <p:nvPr/>
            </p:nvSpPr>
            <p:spPr>
              <a:xfrm>
                <a:off x="8583930" y="3581400"/>
                <a:ext cx="159258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∆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𝑀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930" y="3581400"/>
                <a:ext cx="1592580" cy="3683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12" idx="0"/>
          </p:cNvCxnSpPr>
          <p:nvPr/>
        </p:nvCxnSpPr>
        <p:spPr>
          <a:xfrm flipV="1">
            <a:off x="7761605" y="3756660"/>
            <a:ext cx="1263650" cy="88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13" idx="0"/>
            <a:endCxn id="12" idx="1"/>
          </p:cNvCxnSpPr>
          <p:nvPr/>
        </p:nvCxnSpPr>
        <p:spPr>
          <a:xfrm rot="16200000" flipV="1">
            <a:off x="7905115" y="2106295"/>
            <a:ext cx="397510" cy="2552700"/>
          </a:xfrm>
          <a:prstGeom prst="curvedConnector3">
            <a:avLst>
              <a:gd name="adj1" fmla="val 21278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7915275" y="2398395"/>
            <a:ext cx="146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FAMA</a:t>
            </a:r>
            <a:endParaRPr lang="en-US"/>
          </a:p>
        </p:txBody>
      </p:sp>
      <p:sp>
        <p:nvSpPr>
          <p:cNvPr id="18" name="Rectangles 17"/>
          <p:cNvSpPr/>
          <p:nvPr/>
        </p:nvSpPr>
        <p:spPr>
          <a:xfrm>
            <a:off x="6195695" y="1281430"/>
            <a:ext cx="1263015" cy="1128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Saliency</a:t>
            </a:r>
            <a:endParaRPr lang="en-US"/>
          </a:p>
          <a:p>
            <a:pPr algn="ctr"/>
            <a:r>
              <a:rPr lang="en-US"/>
              <a:t>Map</a:t>
            </a:r>
            <a:endParaRPr lang="en-US"/>
          </a:p>
        </p:txBody>
      </p:sp>
      <p:cxnSp>
        <p:nvCxnSpPr>
          <p:cNvPr id="19" name="Straight Arrow Connector 18"/>
          <p:cNvCxnSpPr>
            <a:endCxn id="18" idx="2"/>
          </p:cNvCxnSpPr>
          <p:nvPr/>
        </p:nvCxnSpPr>
        <p:spPr>
          <a:xfrm flipV="1">
            <a:off x="6819265" y="2409825"/>
            <a:ext cx="8255" cy="7073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4. Thực nghiệm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1642745"/>
            <a:ext cx="8953500" cy="3571875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4. Thực nghiệm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  <p:grpSp>
        <p:nvGrpSpPr>
          <p:cNvPr id="31" name="Group 30"/>
          <p:cNvGrpSpPr/>
          <p:nvPr/>
        </p:nvGrpSpPr>
        <p:grpSpPr>
          <a:xfrm>
            <a:off x="988060" y="1369060"/>
            <a:ext cx="10025380" cy="2872105"/>
            <a:chOff x="1503" y="2843"/>
            <a:chExt cx="15788" cy="4523"/>
          </a:xfrm>
        </p:grpSpPr>
        <p:grpSp>
          <p:nvGrpSpPr>
            <p:cNvPr id="11" name="Group 10"/>
            <p:cNvGrpSpPr>
              <a:grpSpLocks noChangeAspect="1"/>
            </p:cNvGrpSpPr>
            <p:nvPr/>
          </p:nvGrpSpPr>
          <p:grpSpPr>
            <a:xfrm rot="0">
              <a:off x="2531" y="2843"/>
              <a:ext cx="1994" cy="1872"/>
              <a:chOff x="4710" y="2830"/>
              <a:chExt cx="1364" cy="1352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922" y="3406"/>
                <a:ext cx="576" cy="576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98" y="3075"/>
                <a:ext cx="576" cy="576"/>
              </a:xfrm>
              <a:prstGeom prst="rect">
                <a:avLst/>
              </a:prstGeom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00" y="2830"/>
                <a:ext cx="576" cy="576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98" y="3606"/>
                <a:ext cx="576" cy="576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0" y="3075"/>
                <a:ext cx="576" cy="576"/>
              </a:xfrm>
              <a:prstGeom prst="rect">
                <a:avLst/>
              </a:prstGeom>
            </p:spPr>
          </p:pic>
        </p:grpSp>
        <p:grpSp>
          <p:nvGrpSpPr>
            <p:cNvPr id="17" name="Group 16"/>
            <p:cNvGrpSpPr/>
            <p:nvPr/>
          </p:nvGrpSpPr>
          <p:grpSpPr>
            <a:xfrm rot="0">
              <a:off x="8369" y="2843"/>
              <a:ext cx="1641" cy="1839"/>
              <a:chOff x="7257" y="3115"/>
              <a:chExt cx="2304" cy="2581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32" y="3115"/>
                <a:ext cx="1152" cy="1152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27" y="3392"/>
                <a:ext cx="1152" cy="1152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32" y="4544"/>
                <a:ext cx="1152" cy="1152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09" y="3798"/>
                <a:ext cx="1152" cy="1152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57" y="4090"/>
                <a:ext cx="1152" cy="1152"/>
              </a:xfrm>
              <a:prstGeom prst="rect">
                <a:avLst/>
              </a:prstGeom>
            </p:spPr>
          </p:pic>
        </p:grpSp>
        <p:grpSp>
          <p:nvGrpSpPr>
            <p:cNvPr id="22" name="Group 21"/>
            <p:cNvGrpSpPr/>
            <p:nvPr/>
          </p:nvGrpSpPr>
          <p:grpSpPr>
            <a:xfrm rot="0">
              <a:off x="14060" y="2843"/>
              <a:ext cx="1610" cy="1530"/>
              <a:chOff x="6142" y="3787"/>
              <a:chExt cx="2304" cy="2189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60" y="4824"/>
                <a:ext cx="1152" cy="1152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87" y="3787"/>
                <a:ext cx="1152" cy="1152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94" y="4576"/>
                <a:ext cx="1152" cy="1152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42" y="4077"/>
                <a:ext cx="1152" cy="1152"/>
              </a:xfrm>
              <a:prstGeom prst="rect">
                <a:avLst/>
              </a:prstGeom>
            </p:spPr>
          </p:pic>
        </p:grpSp>
        <p:sp>
          <p:nvSpPr>
            <p:cNvPr id="23" name="Text Box 22"/>
            <p:cNvSpPr txBox="1"/>
            <p:nvPr/>
          </p:nvSpPr>
          <p:spPr>
            <a:xfrm>
              <a:off x="2242" y="4752"/>
              <a:ext cx="257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400" b="1"/>
                <a:t>Mini-Imagenet</a:t>
              </a:r>
              <a:endParaRPr lang="en-US" sz="1400" b="1"/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7705" y="4752"/>
              <a:ext cx="297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400" b="1"/>
                <a:t>Tiered-Imagenet</a:t>
              </a:r>
              <a:endParaRPr lang="en-US" sz="1400" b="1"/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13380" y="4752"/>
              <a:ext cx="297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400" b="1"/>
                <a:t>CUB-200-2011</a:t>
              </a:r>
              <a:endParaRPr lang="en-US" sz="1400" b="1"/>
            </a:p>
          </p:txBody>
        </p:sp>
        <p:sp>
          <p:nvSpPr>
            <p:cNvPr id="28" name="Text Box 27"/>
            <p:cNvSpPr txBox="1"/>
            <p:nvPr/>
          </p:nvSpPr>
          <p:spPr>
            <a:xfrm>
              <a:off x="1503" y="5235"/>
              <a:ext cx="4059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400"/>
                <a:t>- Vật thể tự nhiên đa dạng.</a:t>
              </a:r>
              <a:endParaRPr lang="en-US" sz="1400"/>
            </a:p>
            <a:p>
              <a:r>
                <a:rPr lang="en-US" sz="1400"/>
                <a:t>- Các lớp phân tách ngẫu nhiên. </a:t>
              </a:r>
              <a:r>
                <a:rPr lang="en-US" sz="1400" i="1"/>
                <a:t>Các lớp train/test có thể cùng nhóm ngữ nghĩa.</a:t>
              </a:r>
              <a:endParaRPr lang="en-US" sz="1400" i="1"/>
            </a:p>
          </p:txBody>
        </p:sp>
        <p:sp>
          <p:nvSpPr>
            <p:cNvPr id="29" name="Text Box 28"/>
            <p:cNvSpPr txBox="1"/>
            <p:nvPr/>
          </p:nvSpPr>
          <p:spPr>
            <a:xfrm>
              <a:off x="6957" y="5187"/>
              <a:ext cx="4588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400"/>
                <a:t>- Vật thể tự nhiên, phân cấp theo 34 nhóm cha.</a:t>
              </a:r>
              <a:endParaRPr lang="en-US" sz="1400"/>
            </a:p>
            <a:p>
              <a:r>
                <a:rPr lang="en-US" sz="1400"/>
                <a:t>- Các lớp phân tách theo các lớp cha. </a:t>
              </a:r>
              <a:r>
                <a:rPr lang="en-US" sz="1400" i="1"/>
                <a:t>Đảm bảo dữ liệu giữa train và (test/val) thuộc cross-domain.</a:t>
              </a:r>
              <a:endParaRPr lang="en-US" sz="1400" i="1"/>
            </a:p>
          </p:txBody>
        </p:sp>
        <p:sp>
          <p:nvSpPr>
            <p:cNvPr id="30" name="Text Box 29"/>
            <p:cNvSpPr txBox="1"/>
            <p:nvPr/>
          </p:nvSpPr>
          <p:spPr>
            <a:xfrm>
              <a:off x="12813" y="5235"/>
              <a:ext cx="4478" cy="1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400"/>
                <a:t>- Thu thập từ 600 loài chim.</a:t>
              </a:r>
              <a:endParaRPr lang="en-US" sz="1400"/>
            </a:p>
            <a:p>
              <a:r>
                <a:rPr lang="en-US" sz="1400"/>
                <a:t>- Ảnh cực kỳ chi tiết và mịn. Tất cả đều thuộc cùng một phạm trù "chim". Khác biệt nằm ở cục bộ. (Hard tasks)</a:t>
              </a:r>
              <a:endParaRPr lang="en-US" sz="140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761490" y="4402455"/>
            <a:ext cx="9373870" cy="1792605"/>
            <a:chOff x="469" y="6778"/>
            <a:chExt cx="14762" cy="2823"/>
          </a:xfrm>
        </p:grpSpPr>
        <p:sp>
          <p:nvSpPr>
            <p:cNvPr id="33" name="Text Box 32"/>
            <p:cNvSpPr txBox="1"/>
            <p:nvPr/>
          </p:nvSpPr>
          <p:spPr>
            <a:xfrm>
              <a:off x="4705" y="6778"/>
              <a:ext cx="10526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1400">
                  <a:sym typeface="+mn-ea"/>
                </a:rPr>
                <a:t>dịch chuyển vừa phải (vật thể tự nhiên tổng quát → 1 phạm trù hẹp/fine-grained)</a:t>
              </a:r>
              <a:endParaRPr lang="en-US" sz="1400">
                <a:sym typeface="+mn-ea"/>
              </a:endParaRPr>
            </a:p>
          </p:txBody>
        </p:sp>
        <p:sp>
          <p:nvSpPr>
            <p:cNvPr id="34" name="Text Box 33"/>
            <p:cNvSpPr txBox="1"/>
            <p:nvPr/>
          </p:nvSpPr>
          <p:spPr>
            <a:xfrm>
              <a:off x="660" y="6778"/>
              <a:ext cx="3578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1400" b="1">
                  <a:sym typeface="+mn-ea"/>
                </a:rPr>
                <a:t>miniImageNet → CUB</a:t>
              </a:r>
              <a:endParaRPr lang="en-US" sz="1400" b="1">
                <a:sym typeface="+mn-ea"/>
              </a:endParaRPr>
            </a:p>
          </p:txBody>
        </p:sp>
        <p:sp>
          <p:nvSpPr>
            <p:cNvPr id="35" name="Text Box 34"/>
            <p:cNvSpPr txBox="1"/>
            <p:nvPr/>
          </p:nvSpPr>
          <p:spPr>
            <a:xfrm>
              <a:off x="469" y="7643"/>
              <a:ext cx="3959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1400" b="1">
                  <a:sym typeface="+mn-ea"/>
                </a:rPr>
                <a:t>tiered-ImageNet → CUB</a:t>
              </a:r>
              <a:endParaRPr lang="en-US" sz="1400" b="1">
                <a:sym typeface="+mn-ea"/>
              </a:endParaRPr>
            </a:p>
          </p:txBody>
        </p:sp>
        <p:sp>
          <p:nvSpPr>
            <p:cNvPr id="36" name="Text Box 35"/>
            <p:cNvSpPr txBox="1"/>
            <p:nvPr/>
          </p:nvSpPr>
          <p:spPr>
            <a:xfrm>
              <a:off x="4705" y="7304"/>
              <a:ext cx="9135" cy="11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1400">
                  <a:sym typeface="+mn-ea"/>
                </a:rPr>
                <a:t>dịch chuyển lớn hơn (tiered đã chia theo nhóm cha nên bản thân domain train đã đa dạng/phân tán hơn mini, cộng thêm bước nhảy sang fine-grained)</a:t>
              </a:r>
              <a:endParaRPr lang="en-US" sz="1400">
                <a:sym typeface="+mn-ea"/>
              </a:endParaRPr>
            </a:p>
          </p:txBody>
        </p:sp>
        <p:sp>
          <p:nvSpPr>
            <p:cNvPr id="37" name="Text Box 36"/>
            <p:cNvSpPr txBox="1"/>
            <p:nvPr/>
          </p:nvSpPr>
          <p:spPr>
            <a:xfrm>
              <a:off x="901" y="8780"/>
              <a:ext cx="3095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1400" b="1">
                  <a:sym typeface="+mn-ea"/>
                </a:rPr>
                <a:t>CUB → mini/tiered</a:t>
              </a:r>
              <a:endParaRPr lang="en-US" sz="1400" b="1">
                <a:sym typeface="+mn-ea"/>
              </a:endParaRPr>
            </a:p>
          </p:txBody>
        </p:sp>
        <p:sp>
          <p:nvSpPr>
            <p:cNvPr id="38" name="Text Box 37"/>
            <p:cNvSpPr txBox="1"/>
            <p:nvPr/>
          </p:nvSpPr>
          <p:spPr>
            <a:xfrm>
              <a:off x="4705" y="8441"/>
              <a:ext cx="8261" cy="11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1400">
                  <a:sym typeface="+mn-ea"/>
                </a:rPr>
                <a:t>kiểm tra tính bất đối xứng của negative transfer — domain train hẹp/fine-grained (CUB) có thích ứng tốt sang domain rộng hơn không, hay chiều ngược lại dễ/khó hơn?</a:t>
              </a:r>
              <a:endParaRPr lang="en-US" sz="1400"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4. Thực nghiệm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363980"/>
            <a:ext cx="5547221" cy="4572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315" y="1363980"/>
            <a:ext cx="5547220" cy="45720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4. Thực nghiệm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5164455"/>
            <a:ext cx="8782050" cy="638175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7456170" y="3311525"/>
            <a:ext cx="3038475" cy="1298575"/>
            <a:chOff x="4992" y="2878"/>
            <a:chExt cx="9440" cy="403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rcRect t="1944"/>
            <a:stretch>
              <a:fillRect/>
            </a:stretch>
          </p:blipFill>
          <p:spPr>
            <a:xfrm>
              <a:off x="4992" y="2878"/>
              <a:ext cx="9441" cy="4035"/>
            </a:xfrm>
            <a:prstGeom prst="rect">
              <a:avLst/>
            </a:prstGeom>
          </p:spPr>
        </p:pic>
        <p:sp>
          <p:nvSpPr>
            <p:cNvPr id="8" name="Freeform 7"/>
            <p:cNvSpPr/>
            <p:nvPr/>
          </p:nvSpPr>
          <p:spPr>
            <a:xfrm>
              <a:off x="6443" y="3344"/>
              <a:ext cx="1247" cy="1485"/>
            </a:xfrm>
            <a:custGeom>
              <a:avLst/>
              <a:gdLst>
                <a:gd name="connisteX0" fmla="*/ 17145 w 791845"/>
                <a:gd name="connsiteY0" fmla="*/ 521970 h 942975"/>
                <a:gd name="connisteX1" fmla="*/ 235585 w 791845"/>
                <a:gd name="connsiteY1" fmla="*/ 320040 h 942975"/>
                <a:gd name="connisteX2" fmla="*/ 353695 w 791845"/>
                <a:gd name="connsiteY2" fmla="*/ 252730 h 942975"/>
                <a:gd name="connisteX3" fmla="*/ 438150 w 791845"/>
                <a:gd name="connsiteY3" fmla="*/ 185420 h 942975"/>
                <a:gd name="connisteX4" fmla="*/ 521970 w 791845"/>
                <a:gd name="connsiteY4" fmla="*/ 134620 h 942975"/>
                <a:gd name="connisteX5" fmla="*/ 589280 w 791845"/>
                <a:gd name="connsiteY5" fmla="*/ 67310 h 942975"/>
                <a:gd name="connisteX6" fmla="*/ 673735 w 791845"/>
                <a:gd name="connsiteY6" fmla="*/ 16510 h 942975"/>
                <a:gd name="connisteX7" fmla="*/ 757555 w 791845"/>
                <a:gd name="connsiteY7" fmla="*/ 0 h 942975"/>
                <a:gd name="connisteX8" fmla="*/ 791845 w 791845"/>
                <a:gd name="connsiteY8" fmla="*/ 118110 h 942975"/>
                <a:gd name="connisteX9" fmla="*/ 791845 w 791845"/>
                <a:gd name="connsiteY9" fmla="*/ 185420 h 942975"/>
                <a:gd name="connisteX10" fmla="*/ 791845 w 791845"/>
                <a:gd name="connsiteY10" fmla="*/ 252730 h 942975"/>
                <a:gd name="connisteX11" fmla="*/ 774700 w 791845"/>
                <a:gd name="connsiteY11" fmla="*/ 336550 h 942975"/>
                <a:gd name="connisteX12" fmla="*/ 774700 w 791845"/>
                <a:gd name="connsiteY12" fmla="*/ 421005 h 942975"/>
                <a:gd name="connisteX13" fmla="*/ 757555 w 791845"/>
                <a:gd name="connsiteY13" fmla="*/ 488315 h 942975"/>
                <a:gd name="connisteX14" fmla="*/ 673735 w 791845"/>
                <a:gd name="connsiteY14" fmla="*/ 539115 h 942975"/>
                <a:gd name="connisteX15" fmla="*/ 589280 w 791845"/>
                <a:gd name="connsiteY15" fmla="*/ 555625 h 942975"/>
                <a:gd name="connisteX16" fmla="*/ 521970 w 791845"/>
                <a:gd name="connsiteY16" fmla="*/ 622935 h 942975"/>
                <a:gd name="connisteX17" fmla="*/ 521970 w 791845"/>
                <a:gd name="connsiteY17" fmla="*/ 690245 h 942975"/>
                <a:gd name="connisteX18" fmla="*/ 589280 w 791845"/>
                <a:gd name="connsiteY18" fmla="*/ 723900 h 942975"/>
                <a:gd name="connisteX19" fmla="*/ 673735 w 791845"/>
                <a:gd name="connsiteY19" fmla="*/ 723900 h 942975"/>
                <a:gd name="connisteX20" fmla="*/ 707390 w 791845"/>
                <a:gd name="connsiteY20" fmla="*/ 808355 h 942975"/>
                <a:gd name="connisteX21" fmla="*/ 555625 w 791845"/>
                <a:gd name="connsiteY21" fmla="*/ 875665 h 942975"/>
                <a:gd name="connisteX22" fmla="*/ 454660 w 791845"/>
                <a:gd name="connsiteY22" fmla="*/ 892175 h 942975"/>
                <a:gd name="connisteX23" fmla="*/ 387350 w 791845"/>
                <a:gd name="connsiteY23" fmla="*/ 909320 h 942975"/>
                <a:gd name="connisteX24" fmla="*/ 320040 w 791845"/>
                <a:gd name="connsiteY24" fmla="*/ 942975 h 942975"/>
                <a:gd name="connisteX25" fmla="*/ 252730 w 791845"/>
                <a:gd name="connsiteY25" fmla="*/ 942975 h 942975"/>
                <a:gd name="connisteX26" fmla="*/ 185420 w 791845"/>
                <a:gd name="connsiteY26" fmla="*/ 942975 h 942975"/>
                <a:gd name="connisteX27" fmla="*/ 118110 w 791845"/>
                <a:gd name="connsiteY27" fmla="*/ 858520 h 942975"/>
                <a:gd name="connisteX28" fmla="*/ 118110 w 791845"/>
                <a:gd name="connsiteY28" fmla="*/ 791210 h 942975"/>
                <a:gd name="connisteX29" fmla="*/ 118110 w 791845"/>
                <a:gd name="connsiteY29" fmla="*/ 707390 h 942975"/>
                <a:gd name="connisteX30" fmla="*/ 118110 w 791845"/>
                <a:gd name="connsiteY30" fmla="*/ 640080 h 942975"/>
                <a:gd name="connisteX31" fmla="*/ 50800 w 791845"/>
                <a:gd name="connsiteY31" fmla="*/ 606425 h 942975"/>
                <a:gd name="connisteX32" fmla="*/ 0 w 791845"/>
                <a:gd name="connsiteY32" fmla="*/ 539115 h 942975"/>
                <a:gd name="connisteX33" fmla="*/ 17145 w 791845"/>
                <a:gd name="connsiteY33" fmla="*/ 521970 h 9429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</a:cxnLst>
              <a:rect l="l" t="t" r="r" b="b"/>
              <a:pathLst>
                <a:path w="791845" h="942975">
                  <a:moveTo>
                    <a:pt x="17145" y="521970"/>
                  </a:moveTo>
                  <a:lnTo>
                    <a:pt x="235585" y="320040"/>
                  </a:lnTo>
                  <a:lnTo>
                    <a:pt x="353695" y="252730"/>
                  </a:lnTo>
                  <a:lnTo>
                    <a:pt x="438150" y="185420"/>
                  </a:lnTo>
                  <a:lnTo>
                    <a:pt x="521970" y="134620"/>
                  </a:lnTo>
                  <a:lnTo>
                    <a:pt x="589280" y="67310"/>
                  </a:lnTo>
                  <a:lnTo>
                    <a:pt x="673735" y="16510"/>
                  </a:lnTo>
                  <a:lnTo>
                    <a:pt x="757555" y="0"/>
                  </a:lnTo>
                  <a:lnTo>
                    <a:pt x="791845" y="118110"/>
                  </a:lnTo>
                  <a:lnTo>
                    <a:pt x="791845" y="185420"/>
                  </a:lnTo>
                  <a:lnTo>
                    <a:pt x="791845" y="252730"/>
                  </a:lnTo>
                  <a:lnTo>
                    <a:pt x="774700" y="336550"/>
                  </a:lnTo>
                  <a:lnTo>
                    <a:pt x="774700" y="421005"/>
                  </a:lnTo>
                  <a:lnTo>
                    <a:pt x="757555" y="488315"/>
                  </a:lnTo>
                  <a:lnTo>
                    <a:pt x="673735" y="539115"/>
                  </a:lnTo>
                  <a:lnTo>
                    <a:pt x="589280" y="555625"/>
                  </a:lnTo>
                  <a:lnTo>
                    <a:pt x="521970" y="622935"/>
                  </a:lnTo>
                  <a:lnTo>
                    <a:pt x="521970" y="690245"/>
                  </a:lnTo>
                  <a:lnTo>
                    <a:pt x="589280" y="723900"/>
                  </a:lnTo>
                  <a:lnTo>
                    <a:pt x="673735" y="723900"/>
                  </a:lnTo>
                  <a:lnTo>
                    <a:pt x="707390" y="808355"/>
                  </a:lnTo>
                  <a:lnTo>
                    <a:pt x="555625" y="875665"/>
                  </a:lnTo>
                  <a:lnTo>
                    <a:pt x="454660" y="892175"/>
                  </a:lnTo>
                  <a:lnTo>
                    <a:pt x="387350" y="909320"/>
                  </a:lnTo>
                  <a:lnTo>
                    <a:pt x="320040" y="942975"/>
                  </a:lnTo>
                  <a:lnTo>
                    <a:pt x="252730" y="942975"/>
                  </a:lnTo>
                  <a:lnTo>
                    <a:pt x="185420" y="942975"/>
                  </a:lnTo>
                  <a:lnTo>
                    <a:pt x="118110" y="858520"/>
                  </a:lnTo>
                  <a:lnTo>
                    <a:pt x="118110" y="791210"/>
                  </a:lnTo>
                  <a:lnTo>
                    <a:pt x="118110" y="707390"/>
                  </a:lnTo>
                  <a:lnTo>
                    <a:pt x="118110" y="640080"/>
                  </a:lnTo>
                  <a:lnTo>
                    <a:pt x="50800" y="606425"/>
                  </a:lnTo>
                  <a:lnTo>
                    <a:pt x="0" y="539115"/>
                  </a:lnTo>
                  <a:lnTo>
                    <a:pt x="17145" y="521970"/>
                  </a:lnTo>
                  <a:close/>
                </a:path>
              </a:pathLst>
            </a:custGeom>
            <a:pattFill prst="pct2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11840" y="3344"/>
              <a:ext cx="1247" cy="1485"/>
            </a:xfrm>
            <a:custGeom>
              <a:avLst/>
              <a:gdLst>
                <a:gd name="connisteX0" fmla="*/ 17145 w 791845"/>
                <a:gd name="connsiteY0" fmla="*/ 521970 h 942975"/>
                <a:gd name="connisteX1" fmla="*/ 235585 w 791845"/>
                <a:gd name="connsiteY1" fmla="*/ 320040 h 942975"/>
                <a:gd name="connisteX2" fmla="*/ 353695 w 791845"/>
                <a:gd name="connsiteY2" fmla="*/ 252730 h 942975"/>
                <a:gd name="connisteX3" fmla="*/ 438150 w 791845"/>
                <a:gd name="connsiteY3" fmla="*/ 185420 h 942975"/>
                <a:gd name="connisteX4" fmla="*/ 521970 w 791845"/>
                <a:gd name="connsiteY4" fmla="*/ 134620 h 942975"/>
                <a:gd name="connisteX5" fmla="*/ 589280 w 791845"/>
                <a:gd name="connsiteY5" fmla="*/ 67310 h 942975"/>
                <a:gd name="connisteX6" fmla="*/ 673735 w 791845"/>
                <a:gd name="connsiteY6" fmla="*/ 16510 h 942975"/>
                <a:gd name="connisteX7" fmla="*/ 757555 w 791845"/>
                <a:gd name="connsiteY7" fmla="*/ 0 h 942975"/>
                <a:gd name="connisteX8" fmla="*/ 791845 w 791845"/>
                <a:gd name="connsiteY8" fmla="*/ 118110 h 942975"/>
                <a:gd name="connisteX9" fmla="*/ 791845 w 791845"/>
                <a:gd name="connsiteY9" fmla="*/ 185420 h 942975"/>
                <a:gd name="connisteX10" fmla="*/ 791845 w 791845"/>
                <a:gd name="connsiteY10" fmla="*/ 252730 h 942975"/>
                <a:gd name="connisteX11" fmla="*/ 774700 w 791845"/>
                <a:gd name="connsiteY11" fmla="*/ 336550 h 942975"/>
                <a:gd name="connisteX12" fmla="*/ 774700 w 791845"/>
                <a:gd name="connsiteY12" fmla="*/ 421005 h 942975"/>
                <a:gd name="connisteX13" fmla="*/ 757555 w 791845"/>
                <a:gd name="connsiteY13" fmla="*/ 488315 h 942975"/>
                <a:gd name="connisteX14" fmla="*/ 673735 w 791845"/>
                <a:gd name="connsiteY14" fmla="*/ 539115 h 942975"/>
                <a:gd name="connisteX15" fmla="*/ 589280 w 791845"/>
                <a:gd name="connsiteY15" fmla="*/ 555625 h 942975"/>
                <a:gd name="connisteX16" fmla="*/ 521970 w 791845"/>
                <a:gd name="connsiteY16" fmla="*/ 622935 h 942975"/>
                <a:gd name="connisteX17" fmla="*/ 521970 w 791845"/>
                <a:gd name="connsiteY17" fmla="*/ 690245 h 942975"/>
                <a:gd name="connisteX18" fmla="*/ 589280 w 791845"/>
                <a:gd name="connsiteY18" fmla="*/ 723900 h 942975"/>
                <a:gd name="connisteX19" fmla="*/ 673735 w 791845"/>
                <a:gd name="connsiteY19" fmla="*/ 723900 h 942975"/>
                <a:gd name="connisteX20" fmla="*/ 707390 w 791845"/>
                <a:gd name="connsiteY20" fmla="*/ 808355 h 942975"/>
                <a:gd name="connisteX21" fmla="*/ 555625 w 791845"/>
                <a:gd name="connsiteY21" fmla="*/ 875665 h 942975"/>
                <a:gd name="connisteX22" fmla="*/ 454660 w 791845"/>
                <a:gd name="connsiteY22" fmla="*/ 892175 h 942975"/>
                <a:gd name="connisteX23" fmla="*/ 387350 w 791845"/>
                <a:gd name="connsiteY23" fmla="*/ 909320 h 942975"/>
                <a:gd name="connisteX24" fmla="*/ 320040 w 791845"/>
                <a:gd name="connsiteY24" fmla="*/ 942975 h 942975"/>
                <a:gd name="connisteX25" fmla="*/ 252730 w 791845"/>
                <a:gd name="connsiteY25" fmla="*/ 942975 h 942975"/>
                <a:gd name="connisteX26" fmla="*/ 185420 w 791845"/>
                <a:gd name="connsiteY26" fmla="*/ 942975 h 942975"/>
                <a:gd name="connisteX27" fmla="*/ 118110 w 791845"/>
                <a:gd name="connsiteY27" fmla="*/ 858520 h 942975"/>
                <a:gd name="connisteX28" fmla="*/ 118110 w 791845"/>
                <a:gd name="connsiteY28" fmla="*/ 791210 h 942975"/>
                <a:gd name="connisteX29" fmla="*/ 118110 w 791845"/>
                <a:gd name="connsiteY29" fmla="*/ 707390 h 942975"/>
                <a:gd name="connisteX30" fmla="*/ 118110 w 791845"/>
                <a:gd name="connsiteY30" fmla="*/ 640080 h 942975"/>
                <a:gd name="connisteX31" fmla="*/ 50800 w 791845"/>
                <a:gd name="connsiteY31" fmla="*/ 606425 h 942975"/>
                <a:gd name="connisteX32" fmla="*/ 0 w 791845"/>
                <a:gd name="connsiteY32" fmla="*/ 539115 h 942975"/>
                <a:gd name="connisteX33" fmla="*/ 17145 w 791845"/>
                <a:gd name="connsiteY33" fmla="*/ 521970 h 9429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</a:cxnLst>
              <a:rect l="l" t="t" r="r" b="b"/>
              <a:pathLst>
                <a:path w="791845" h="942975">
                  <a:moveTo>
                    <a:pt x="17145" y="521970"/>
                  </a:moveTo>
                  <a:lnTo>
                    <a:pt x="235585" y="320040"/>
                  </a:lnTo>
                  <a:lnTo>
                    <a:pt x="353695" y="252730"/>
                  </a:lnTo>
                  <a:lnTo>
                    <a:pt x="438150" y="185420"/>
                  </a:lnTo>
                  <a:lnTo>
                    <a:pt x="521970" y="134620"/>
                  </a:lnTo>
                  <a:lnTo>
                    <a:pt x="589280" y="67310"/>
                  </a:lnTo>
                  <a:lnTo>
                    <a:pt x="673735" y="16510"/>
                  </a:lnTo>
                  <a:lnTo>
                    <a:pt x="757555" y="0"/>
                  </a:lnTo>
                  <a:lnTo>
                    <a:pt x="791845" y="118110"/>
                  </a:lnTo>
                  <a:lnTo>
                    <a:pt x="791845" y="185420"/>
                  </a:lnTo>
                  <a:lnTo>
                    <a:pt x="791845" y="252730"/>
                  </a:lnTo>
                  <a:lnTo>
                    <a:pt x="774700" y="336550"/>
                  </a:lnTo>
                  <a:lnTo>
                    <a:pt x="774700" y="421005"/>
                  </a:lnTo>
                  <a:lnTo>
                    <a:pt x="757555" y="488315"/>
                  </a:lnTo>
                  <a:lnTo>
                    <a:pt x="673735" y="539115"/>
                  </a:lnTo>
                  <a:lnTo>
                    <a:pt x="589280" y="555625"/>
                  </a:lnTo>
                  <a:lnTo>
                    <a:pt x="521970" y="622935"/>
                  </a:lnTo>
                  <a:lnTo>
                    <a:pt x="521970" y="690245"/>
                  </a:lnTo>
                  <a:lnTo>
                    <a:pt x="589280" y="723900"/>
                  </a:lnTo>
                  <a:lnTo>
                    <a:pt x="673735" y="723900"/>
                  </a:lnTo>
                  <a:lnTo>
                    <a:pt x="707390" y="808355"/>
                  </a:lnTo>
                  <a:lnTo>
                    <a:pt x="555625" y="875665"/>
                  </a:lnTo>
                  <a:lnTo>
                    <a:pt x="454660" y="892175"/>
                  </a:lnTo>
                  <a:lnTo>
                    <a:pt x="387350" y="909320"/>
                  </a:lnTo>
                  <a:lnTo>
                    <a:pt x="320040" y="942975"/>
                  </a:lnTo>
                  <a:lnTo>
                    <a:pt x="252730" y="942975"/>
                  </a:lnTo>
                  <a:lnTo>
                    <a:pt x="185420" y="942975"/>
                  </a:lnTo>
                  <a:lnTo>
                    <a:pt x="118110" y="858520"/>
                  </a:lnTo>
                  <a:lnTo>
                    <a:pt x="118110" y="791210"/>
                  </a:lnTo>
                  <a:lnTo>
                    <a:pt x="118110" y="707390"/>
                  </a:lnTo>
                  <a:lnTo>
                    <a:pt x="118110" y="640080"/>
                  </a:lnTo>
                  <a:lnTo>
                    <a:pt x="50800" y="606425"/>
                  </a:lnTo>
                  <a:lnTo>
                    <a:pt x="0" y="539115"/>
                  </a:lnTo>
                  <a:lnTo>
                    <a:pt x="17145" y="521970"/>
                  </a:lnTo>
                  <a:close/>
                </a:path>
              </a:pathLst>
            </a:custGeom>
            <a:pattFill prst="pct2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11" name="Text Box 10"/>
          <p:cNvSpPr txBox="1"/>
          <p:nvPr/>
        </p:nvSpPr>
        <p:spPr>
          <a:xfrm>
            <a:off x="829945" y="1426845"/>
            <a:ext cx="10523855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BiADT: </a:t>
            </a:r>
            <a:r>
              <a:rPr lang="en-US"/>
              <a:t>Nếu bản đồ quy kết cuối cùng là trung thực, ta kỳ vọng hai chiều xóa-và-đo mang lại hai xu hướng đối lập, và cùng tách biệt rõ rệt khỏi đường cơ sở ngẫu nhiên.</a:t>
            </a:r>
            <a:endParaRPr lang="en-US" b="1"/>
          </a:p>
          <a:p>
            <a:r>
              <a:rPr lang="en-US" sz="1600"/>
              <a:t>- Xóa lần lượt các vùng ảnh theo các chiều hướng</a:t>
            </a:r>
            <a:endParaRPr lang="en-US" sz="1600"/>
          </a:p>
          <a:p>
            <a:r>
              <a:rPr lang="en-US" sz="1600"/>
              <a:t>  + mức độ quan trọng giảm dần</a:t>
            </a:r>
            <a:endParaRPr lang="en-US" sz="1600"/>
          </a:p>
          <a:p>
            <a:r>
              <a:rPr lang="en-US" sz="1600"/>
              <a:t>  + mức độ quan trọng tăng dần</a:t>
            </a:r>
            <a:endParaRPr lang="en-US" sz="1600"/>
          </a:p>
          <a:p>
            <a:r>
              <a:rPr lang="en-US" sz="1600"/>
              <a:t>  + ngẫu nhiên</a:t>
            </a:r>
            <a:endParaRPr lang="en-US" sz="1600"/>
          </a:p>
          <a:p>
            <a:r>
              <a:rPr lang="en-US" sz="1600"/>
              <a:t>- Tính diện tích lệch khỏi đường ngẫu nhiên (AOPC (Area Over Perturbation Curve))</a:t>
            </a:r>
            <a:endParaRPr lang="en-US" sz="160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940" y="3311525"/>
            <a:ext cx="3629025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4. Thực nghiệm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6600" y="3211830"/>
            <a:ext cx="5629910" cy="27527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10"/>
              <p:cNvSpPr txBox="1"/>
              <p:nvPr/>
            </p:nvSpPr>
            <p:spPr>
              <a:xfrm>
                <a:off x="829945" y="1426845"/>
                <a:ext cx="10523855" cy="8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b="1"/>
                  <a:t>Sanity Check</a:t>
                </a:r>
                <a:endParaRPr lang="en-US" b="1"/>
              </a:p>
              <a:p>
                <a:r>
                  <a:rPr lang="en-US" sz="1600"/>
                  <a:t>- Nếu bản đồ quy kết thực sự phản ánh tri thức tiên nghiệm đã học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𝜃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/>
                  <a:t>), hệ số tương quan giữa hai bản đồ quy kết do việc ngẫu nhiên hóa tham số so với khi không can thiệp phải thấp hơn đáng kể.</a:t>
                </a:r>
                <a:endParaRPr lang="en-US" sz="1600"/>
              </a:p>
            </p:txBody>
          </p:sp>
        </mc:Choice>
        <mc:Fallback>
          <p:sp>
            <p:nvSpPr>
              <p:cNvPr id="11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5" y="1426845"/>
                <a:ext cx="10523855" cy="8610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4. Thực nghiệm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t="1154"/>
          <a:stretch>
            <a:fillRect/>
          </a:stretch>
        </p:blipFill>
        <p:spPr>
          <a:xfrm>
            <a:off x="2262505" y="4079875"/>
            <a:ext cx="7658100" cy="14687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10"/>
              <p:cNvSpPr txBox="1"/>
              <p:nvPr/>
            </p:nvSpPr>
            <p:spPr>
              <a:xfrm>
                <a:off x="829945" y="1426845"/>
                <a:ext cx="10523855" cy="1845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b="1"/>
                  <a:t>Sanity Check</a:t>
                </a:r>
                <a:endParaRPr lang="en-US" b="1"/>
              </a:p>
              <a:p>
                <a:r>
                  <a:rPr lang="en-US" sz="1600">
                    <a:sym typeface="+mn-ea"/>
                  </a:rPr>
                  <a:t>- Nếu bản đồ quy kết thực sự phản ánh vai trò định hướng của tập hỗ trợ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>
                    <a:sym typeface="+mn-ea"/>
                  </a:rPr>
                  <a:t>, hệ số tương quan giữa hai bản đồ quy kết do việc can thiệp vào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>
                    <a:sym typeface="+mn-ea"/>
                  </a:rPr>
                  <a:t> (bằng cách i, ii, iii) so với khi không can thiệp phải thấp hơn đáng kể.</a:t>
                </a:r>
                <a:endParaRPr lang="en-US" sz="1600"/>
              </a:p>
              <a:p>
                <a:r>
                  <a:rPr lang="en-US" sz="1600">
                    <a:sym typeface="+mn-ea"/>
                  </a:rPr>
                  <a:t> (i) - Ngẫu nhiên gây nhiễu các label trong tập hỗ trợ (hoán vị lớp)</a:t>
                </a:r>
                <a:endParaRPr lang="en-US" sz="1600">
                  <a:sym typeface="+mn-ea"/>
                </a:endParaRPr>
              </a:p>
              <a:p>
                <a:r>
                  <a:rPr lang="en-US" sz="1600">
                    <a:sym typeface="+mn-ea"/>
                  </a:rPr>
                  <a:t> (ii) - Thêm các mẫu khác từ ngoài phân phối đã học trong quá trình meta-training (trộn tác vụ)</a:t>
                </a:r>
                <a:endParaRPr lang="en-US" sz="1600">
                  <a:sym typeface="+mn-ea"/>
                </a:endParaRPr>
              </a:p>
              <a:p>
                <a:r>
                  <a:rPr lang="en-US" sz="1600">
                    <a:sym typeface="+mn-ea"/>
                  </a:rPr>
                  <a:t> (iii) - Làm mờ hoặc gây nhiễu các mẫu để ranh giới các lớp bị xóa nhòa (tăng độ khó tác vụ)</a:t>
                </a:r>
                <a:endParaRPr lang="en-US" sz="1600">
                  <a:sym typeface="+mn-ea"/>
                </a:endParaRPr>
              </a:p>
              <a:p>
                <a:endParaRPr lang="en-US" sz="1600"/>
              </a:p>
            </p:txBody>
          </p:sp>
        </mc:Choice>
        <mc:Fallback>
          <p:sp>
            <p:nvSpPr>
              <p:cNvPr id="11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5" y="1426845"/>
                <a:ext cx="10523855" cy="18453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5. Kết luận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1" name="Text Box 101"/>
          <p:cNvSpPr txBox="1"/>
          <p:nvPr/>
        </p:nvSpPr>
        <p:spPr>
          <a:xfrm>
            <a:off x="647700" y="1550000"/>
            <a:ext cx="5450000" cy="27508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b="1"/>
              <a:t>Đóng góp chính</a:t>
            </a:r>
            <a:endParaRPr lang="vi-VN" b="1"/>
          </a:p>
          <a:p>
            <a:pPr>
              <a:spcBef>
                <a:spcPts val="500"/>
              </a:spcBef>
            </a:pPr>
            <a:r>
              <a:rPr lang="vi-VN" sz="1600"/>
              <a:t>- Độ lợi thích ứng ΔM: định lượng khả vi chiều hướng chuyển giao (tích cực / tiêu cực / feature-reuse) của việc thích ứng backbone</a:t>
            </a:r>
            <a:endParaRPr lang="vi-VN" sz="1600"/>
          </a:p>
          <a:p>
            <a:pPr>
              <a:spcBef>
                <a:spcPts val="400"/>
              </a:spcBef>
            </a:pPr>
            <a:r>
              <a:rPr lang="vi-VN" sz="1600"/>
              <a:t>- FAMA: quy kết đa trạng thái xuyên suốt toàn bộ quỹ đạo thích ứng (không chỉ tại ϕT), giữ nguyên dấu, không cần dữ liệu meta-training</a:t>
            </a:r>
            <a:endParaRPr lang="vi-VN" sz="1600"/>
          </a:p>
          <a:p>
            <a:pPr>
              <a:spcBef>
                <a:spcPts val="400"/>
              </a:spcBef>
            </a:pPr>
            <a:r>
              <a:rPr lang="vi-VN" sz="1600"/>
              <a:t>- Kiểm chứng: BiADT (p &lt; 0.001 ở cả hai chiều) cùng hai bài kiểm tra tỉnh táo theo θ</a:t>
            </a:r>
            <a:r>
              <a:rPr lang="vi-VN" sz="1600" baseline="-25000"/>
              <a:t>0</a:t>
            </a:r>
            <a:r>
              <a:rPr lang="vi-VN" sz="1600"/>
              <a:t> và S</a:t>
            </a:r>
            <a:r>
              <a:rPr lang="vi-VN" sz="1600" baseline="-25000"/>
              <a:t>i</a:t>
            </a:r>
            <a:r>
              <a:rPr lang="vi-VN" sz="1600"/>
              <a:t> xác nhận tính trung thực và đáng tin cậy của bản đồ quy kết</a:t>
            </a:r>
            <a:endParaRPr lang="vi-VN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 Box 102"/>
              <p:cNvSpPr txBox="1"/>
              <p:nvPr/>
            </p:nvSpPr>
            <p:spPr>
              <a:xfrm>
                <a:off x="6300000" y="1550000"/>
                <a:ext cx="5450000" cy="3648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vi-VN" b="1"/>
                  <a:t>Hạn chế</a:t>
                </a:r>
                <a:endParaRPr lang="vi-VN" b="1"/>
              </a:p>
              <a:p>
                <a:pPr>
                  <a:spcBef>
                    <a:spcPts val="500"/>
                  </a:spcBef>
                </a:pPr>
                <a:r>
                  <a:rPr lang="vi-VN" sz="1600"/>
                  <a:t>- Backbone Conv4 nông → lưới đặc trưng thô, gây "tràn màu" (spatial bleeding) và sai số biên lớn trong BiADT</a:t>
                </a:r>
                <a:endParaRPr lang="vi-VN" sz="1600"/>
              </a:p>
              <a:p>
                <a:pPr>
                  <a:spcBef>
                    <a:spcPts val="300"/>
                  </a:spcBef>
                </a:pPr>
                <a:r>
                  <a:rPr lang="vi-VN" sz="1600"/>
                  <a:t>- Kịch bản OOD chưa đủ khắc nghiệt do tương đồng thị giác cấp thấp giữa các bộ dữ liệu</a:t>
                </a:r>
                <a:endParaRPr lang="vi-VN" sz="1600"/>
              </a:p>
              <a:p>
                <a:pPr>
                  <a:spcBef>
                    <a:spcPts val="600"/>
                  </a:spcBef>
                </a:pPr>
                <a:r>
                  <a:rPr lang="vi-VN" b="1"/>
                  <a:t>Hướng phát triển</a:t>
                </a:r>
                <a:endParaRPr lang="vi-VN" b="1"/>
              </a:p>
              <a:p>
                <a:pPr>
                  <a:spcBef>
                    <a:spcPts val="300"/>
                  </a:spcBef>
                </a:pPr>
                <a:r>
                  <a:rPr lang="vi-VN" sz="1600"/>
                  <a:t>1. Backbone sâu hơn (ResNet-12) để cải thiện độ phân giải không gian</a:t>
                </a:r>
                <a:endParaRPr lang="vi-VN" sz="1600"/>
              </a:p>
              <a:p>
                <a:pPr>
                  <a:spcBef>
                    <a:spcPts val="200"/>
                  </a:spcBef>
                </a:pPr>
                <a:r>
                  <a:rPr lang="vi-VN" sz="1600"/>
                  <a:t>2. Tinh chỉnh kịch bản OOD bằng tập phi-vật-thể (Places, texture)</a:t>
                </a:r>
                <a:endParaRPr lang="vi-VN" sz="1600"/>
              </a:p>
              <a:p>
                <a:pPr>
                  <a:spcBef>
                    <a:spcPts val="200"/>
                  </a:spcBef>
                </a:pPr>
                <a:r>
                  <a:rPr lang="vi-VN" sz="1600"/>
                  <a:t>3. Tổng quát hoá ΔM/FAMA sang ANIL, BOIL, Meta-SGD</a:t>
                </a:r>
                <a:endParaRPr lang="vi-VN" sz="1600"/>
              </a:p>
              <a:p>
                <a:pPr>
                  <a:spcBef>
                    <a:spcPts val="200"/>
                  </a:spcBef>
                </a:pPr>
                <a:r>
                  <a:rPr lang="vi-VN" sz="1600"/>
                  <a:t>4. Áp dụng</a:t>
                </a:r>
                <a:r>
                  <a:rPr lang="en-US" altLang="vi-VN" sz="1600"/>
                  <a:t> FAMA để</a:t>
                </a:r>
                <a:r>
                  <a:rPr lang="vi-VN" sz="1600"/>
                  <a:t> can thiệp chủ động nhằm tự động hiệu chỉnh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vi-VN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vi-VN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𝑆</m:t>
                        </m:r>
                      </m:e>
                      <m:sub>
                        <m:r>
                          <a:rPr lang="en-US" altLang="vi-VN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endParaRPr lang="vi-VN" sz="1600" baseline="-25000"/>
              </a:p>
            </p:txBody>
          </p:sp>
        </mc:Choice>
        <mc:Fallback>
          <p:sp>
            <p:nvSpPr>
              <p:cNvPr id="102" name="Text 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000" y="1550000"/>
                <a:ext cx="5450000" cy="3648710"/>
              </a:xfrm>
              <a:prstGeom prst="rect">
                <a:avLst/>
              </a:prstGeom>
              <a:blipFill rotWithShape="1">
                <a:blip r:embed="rId1"/>
                <a:stretch>
                  <a:fillRect l="-3" t="-16" r="11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28/07/2026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10880</Words>
  <Application>WPS Presentation</Application>
  <PresentationFormat>宽屏</PresentationFormat>
  <Paragraphs>638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3" baseType="lpstr">
      <vt:lpstr>Arial</vt:lpstr>
      <vt:lpstr>SimSun</vt:lpstr>
      <vt:lpstr>Wingdings</vt:lpstr>
      <vt:lpstr>DejaVu Sans</vt:lpstr>
      <vt:lpstr>DejaVu Math TeX Gyre</vt:lpstr>
      <vt:lpstr>Cambria Math</vt:lpstr>
      <vt:lpstr>Noto Serif Display ExtraCondensed Medium</vt:lpstr>
      <vt:lpstr>MS Mincho</vt:lpstr>
      <vt:lpstr>MS Mincho</vt:lpstr>
      <vt:lpstr>Arial Black</vt:lpstr>
      <vt:lpstr>Microsoft YaHei</vt:lpstr>
      <vt:lpstr>Droid Sans Fallback</vt:lpstr>
      <vt:lpstr>Arial Unicode MS</vt:lpstr>
      <vt:lpstr>SimSun</vt:lpstr>
      <vt:lpstr>Quicksand Light</vt:lpstr>
      <vt:lpstr>0xProto Nerd Font</vt:lpstr>
      <vt:lpstr>Noto Color Emoji</vt:lpstr>
      <vt:lpstr>SimSun</vt:lpstr>
      <vt:lpstr>Office Theme</vt:lpstr>
      <vt:lpstr>Khóa luận tốt nghiệp Đề tài: Giải thích Negative Transfer trong Meta-Learning</vt:lpstr>
      <vt:lpstr>Mục lục</vt:lpstr>
      <vt:lpstr>1. Giới thiệu đề tài</vt:lpstr>
      <vt:lpstr>1. Giới thiệu đề tài</vt:lpstr>
      <vt:lpstr>1. Giới thiệu đề tài</vt:lpstr>
      <vt:lpstr>2. Phát biểu bài toán</vt:lpstr>
      <vt:lpstr>2. Phát biểu bài toán</vt:lpstr>
      <vt:lpstr>2. Phát biểu bài toán</vt:lpstr>
      <vt:lpstr>2. Phát biểu bài toán</vt:lpstr>
      <vt:lpstr>3. Các nghiên cứu liên quan</vt:lpstr>
      <vt:lpstr>3. Các nghiên cứu liên quan</vt:lpstr>
      <vt:lpstr>3. Các nghiên cứu liên quan</vt:lpstr>
      <vt:lpstr>3. Phương pháp</vt:lpstr>
      <vt:lpstr>3. Phương pháp</vt:lpstr>
      <vt:lpstr>3. Phát biểu bài toán và phương pháp</vt:lpstr>
      <vt:lpstr>3. Phương pháp</vt:lpstr>
      <vt:lpstr>4. Thực nghiệm</vt:lpstr>
      <vt:lpstr>4. Thực nghiệm</vt:lpstr>
      <vt:lpstr>4. Thực nghiệm</vt:lpstr>
      <vt:lpstr>4. Thực nghiệm</vt:lpstr>
      <vt:lpstr>4. Thực nghiệm</vt:lpstr>
      <vt:lpstr>4. Thực nghiệm</vt:lpstr>
      <vt:lpstr>4. Thực nghiệm</vt:lpstr>
      <vt:lpstr>5. Kết luận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hariknguyen</cp:lastModifiedBy>
  <cp:revision>199</cp:revision>
  <dcterms:created xsi:type="dcterms:W3CDTF">2026-07-27T09:01:25Z</dcterms:created>
  <dcterms:modified xsi:type="dcterms:W3CDTF">2026-07-27T09:01:25Z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